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6"/>
  </p:notesMasterIdLst>
  <p:sldIdLst>
    <p:sldId id="2147483590" r:id="rId3"/>
    <p:sldId id="2147483599" r:id="rId4"/>
    <p:sldId id="2147483607" r:id="rId5"/>
    <p:sldId id="2147483610" r:id="rId6"/>
    <p:sldId id="257" r:id="rId7"/>
    <p:sldId id="2147483611" r:id="rId8"/>
    <p:sldId id="2147483597" r:id="rId9"/>
    <p:sldId id="2147483608" r:id="rId10"/>
    <p:sldId id="2147483598" r:id="rId11"/>
    <p:sldId id="256" r:id="rId12"/>
    <p:sldId id="2147483603" r:id="rId13"/>
    <p:sldId id="2147483604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>
        <p:scale>
          <a:sx n="110" d="100"/>
          <a:sy n="110" d="100"/>
        </p:scale>
        <p:origin x="566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85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F06529A-691F-C672-14FA-92FBC482E8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2427" r="37054" b="12427"/>
          <a:stretch/>
        </p:blipFill>
        <p:spPr>
          <a:xfrm>
            <a:off x="4835590" y="0"/>
            <a:ext cx="430841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804435-65B0-DCE2-A2E6-66627D7E6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84" y="2334946"/>
            <a:ext cx="6858000" cy="772428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rgbClr val="0709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F4EF2-0159-A0D3-3377-20C8AF02C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185" y="3255626"/>
            <a:ext cx="3679762" cy="535780"/>
          </a:xfrm>
        </p:spPr>
        <p:txBody>
          <a:bodyPr>
            <a:normAutofit/>
          </a:bodyPr>
          <a:lstStyle>
            <a:lvl1pPr marL="0" indent="0" algn="l">
              <a:buNone/>
              <a:defRPr sz="1350">
                <a:solidFill>
                  <a:srgbClr val="07095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F12B4-58B9-1FE3-DB21-3FAF7024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971256"/>
            <a:ext cx="2349500" cy="172244"/>
          </a:xfrm>
        </p:spPr>
        <p:txBody>
          <a:bodyPr/>
          <a:lstStyle>
            <a:lvl1pPr algn="l">
              <a:defRPr/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273FD-26B2-4ADC-3CA4-85AF94CE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571500" cy="172244"/>
          </a:xfrm>
        </p:spPr>
        <p:txBody>
          <a:bodyPr/>
          <a:lstStyle>
            <a:lvl1pPr algn="l">
              <a:defRPr/>
            </a:lvl1pPr>
          </a:lstStyle>
          <a:p>
            <a:fld id="{14A2803F-7399-0C41-AB72-E832DE103C77}" type="slidenum">
              <a:rPr lang="en-TH" smtClean="0"/>
              <a:pPr/>
              <a:t>‹#›</a:t>
            </a:fld>
            <a:endParaRPr lang="en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3FD330-9FE3-9B4D-B3E6-49F6339500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2812" y="1331017"/>
            <a:ext cx="2990868" cy="9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60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FD989-92A9-ECF9-0555-3F1248471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BD44F-CDC8-5E93-EE0C-22431EC44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3A01C-9DE7-28E0-531D-63309299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89D4C-B891-E3C0-94FD-1702500D8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29728-E8AE-5946-5742-0EF66A4E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1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311D-72C7-3DC6-7A1D-D59A04777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C6FEC-2DAA-5793-FC75-178D02DD9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6265E-A7A8-F808-5EDB-D358DE1A6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5BA53-5110-0630-BC07-0E8BD903B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4A0E3-21B5-A956-AD42-B75B3A215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52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2F71-FB97-2961-FC48-D42F6B0A8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98947-B929-5207-8D84-91123D911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CDBDB-6D97-B550-4508-34A69E13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D690-7637-0025-59F3-2F13F0F9E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4CC73-97ED-1FF0-82B3-89EB784E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7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C02E-7BC4-F274-77A9-E0E428DB7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F0BAF-2CEA-7509-5CDB-1F3DCF64D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54FA0-B0FE-B817-803D-A29B6BE45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E7E42-D5CB-9D66-B5D7-46FC7A1B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C58CD-0D0B-74A0-50CE-A36A83940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96CD3-3BAA-8DB4-1367-32771171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1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7783-597F-39CF-283C-091904FF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18039-D35E-6B5E-A278-948BD96E8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8CD03-294D-E816-60CC-DA6D55656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C9C58A-74F2-3A57-587C-1BA0B4800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AD52A7-CA95-221A-6EA1-DBC84AE89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CC428-9527-C8FA-9FCF-0641A59FF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730781-8B7D-A88F-373A-0A494CB1A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DCCD1B-3B3F-D3E7-BC33-326FE1E5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36A8-A23E-C522-A5EE-073571F0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C15D92-06FF-8A66-496E-A3692214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BBA0F-9406-EFF3-CF30-06A6C0889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B3290-3167-8650-25AD-8A9DFF26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1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138C0-F90D-13E4-7216-1065B4FA7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3EC45-378C-9883-FF91-414F3B0A7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50E53-9D10-2B21-10E1-9FCB8A406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3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EC302-9BAE-21FF-27DB-81F3FB071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1507A-1526-3997-66F4-6C381BFAD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B9105-21BD-78E0-8E4D-76AEB9A71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C80EE-0E21-7B18-FB4C-A02589EF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EF637-36E3-14A3-8D88-2E7C16BD6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7F36-873A-FF74-1E73-A52667A5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0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356B3-F20C-F608-D0E4-5E1DCBC63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9084DD-6669-EC2D-D346-C95775E88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C9125-E66A-5C7E-EA15-A5AA16E7E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BC5B6-D9D5-4D62-2D3C-73BA1275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49AF5-9D52-D5CF-5020-0660C7BC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BA3CB-BD66-9D69-71C0-0DA2110F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22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2661-17C8-BA3C-9BB1-5614E67F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668D6-32AE-2076-B6A5-FE849A07E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2289F-96F0-FC5C-8D15-2581071EC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66609-4685-873C-BD2D-DD4181B4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875A9-F141-0C10-03C7-5581CDAF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98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B4BFB0-2819-2FE4-B2AD-3B052B00E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34298-1C93-A14B-5C25-8ECD07BD1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3F4D0-828D-0EC8-1582-E81DC1B2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3102C-822E-54EC-CDCD-EF15EC9F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20A6C-E8C7-A0D5-7F43-3460463F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3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5E002-0EA0-B603-3AD9-6D2AC0B68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9BF01-5C1E-19D8-FA91-B5DE82FB9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8601F-59B7-774D-E899-C009D99A0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77704-E228-41FA-A7BF-A63B32899CE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692E2-D552-A5CF-8683-C2605627A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07443-A302-EA32-2EBC-12CD26B11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0F3EC-AD41-48A7-8F6A-1620418D8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15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FE82-8545-BD90-C4A8-7492A88F4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DAED3E-50C5-DAB4-72EC-94963B4C0406}"/>
              </a:ext>
            </a:extLst>
          </p:cNvPr>
          <p:cNvSpPr txBox="1"/>
          <p:nvPr/>
        </p:nvSpPr>
        <p:spPr>
          <a:xfrm>
            <a:off x="0" y="4935751"/>
            <a:ext cx="31133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900" i="1">
                <a:solidFill>
                  <a:srgbClr val="C00000"/>
                </a:solidFill>
                <a:latin typeface="Calibri" panose="020F0502020204030204"/>
              </a:rPr>
              <a:t>For Internal Circulation Only – Confidential &amp; Sensitive 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2A4D7E-03DB-A484-7F2C-39BA6A8CB72F}"/>
              </a:ext>
            </a:extLst>
          </p:cNvPr>
          <p:cNvSpPr txBox="1"/>
          <p:nvPr/>
        </p:nvSpPr>
        <p:spPr>
          <a:xfrm>
            <a:off x="477993" y="2225981"/>
            <a:ext cx="3818434" cy="9243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 sz="4800" b="1" i="0">
                <a:solidFill>
                  <a:srgbClr val="0F172A"/>
                </a:solidFill>
                <a:latin typeface="Montserrat"/>
              </a:defRPr>
            </a:pPr>
            <a:r>
              <a:rPr sz="2800" dirty="0">
                <a:latin typeface="Tenorite" panose="00000500000000000000" pitchFamily="2" charset="0"/>
              </a:rPr>
              <a:t>MIS to AEP </a:t>
            </a:r>
            <a:endParaRPr lang="en-US" sz="2800" dirty="0">
              <a:latin typeface="Tenorite" panose="00000500000000000000" pitchFamily="2" charset="0"/>
            </a:endParaRPr>
          </a:p>
          <a:p>
            <a:pPr algn="l">
              <a:defRPr sz="4800" b="1" i="0">
                <a:solidFill>
                  <a:srgbClr val="0F172A"/>
                </a:solidFill>
                <a:latin typeface="Montserrat"/>
              </a:defRPr>
            </a:pPr>
            <a:r>
              <a:rPr sz="2800" dirty="0">
                <a:latin typeface="Tenorite" panose="00000500000000000000" pitchFamily="2" charset="0"/>
              </a:rPr>
              <a:t>Migration Strategy</a:t>
            </a:r>
          </a:p>
        </p:txBody>
      </p:sp>
    </p:spTree>
    <p:extLst>
      <p:ext uri="{BB962C8B-B14F-4D97-AF65-F5344CB8AC3E}">
        <p14:creationId xmlns:p14="http://schemas.microsoft.com/office/powerpoint/2010/main" val="7685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3"/>
          <p:cNvSpPr/>
          <p:nvPr/>
        </p:nvSpPr>
        <p:spPr>
          <a:xfrm>
            <a:off x="292608" y="3261778"/>
            <a:ext cx="427939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509559"/>
            <a:ext cx="2289257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C1F35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Briefing Agenda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92608" y="1176946"/>
            <a:ext cx="427939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2608" y="1176946"/>
            <a:ext cx="47548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2608" y="1176946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01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9536" y="127277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C1F35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Executive Summary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176946"/>
            <a:ext cx="427939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176946"/>
            <a:ext cx="475488" cy="621792"/>
          </a:xfrm>
          <a:prstGeom prst="rect">
            <a:avLst/>
          </a:prstGeom>
          <a:solidFill>
            <a:srgbClr val="1155A6"/>
          </a:solidFill>
          <a:ln w="12700">
            <a:solidFill>
              <a:srgbClr val="1155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1176946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02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21808" y="126024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92608" y="1871890"/>
            <a:ext cx="427939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92608" y="1871890"/>
            <a:ext cx="475488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2608" y="1871890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03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9536" y="1973977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n-US" sz="1050" b="1" dirty="0">
                <a:solidFill>
                  <a:srgbClr val="0C1F35"/>
                </a:solidFill>
                <a:latin typeface="Tenorite" panose="00000500000000000000" pitchFamily="2" charset="0"/>
              </a:rPr>
              <a:t>What is Included In The Move</a:t>
            </a:r>
            <a:endParaRPr lang="en-US" sz="105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1871890"/>
            <a:ext cx="427939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1871890"/>
            <a:ext cx="475488" cy="621792"/>
          </a:xfrm>
          <a:prstGeom prst="rect">
            <a:avLst/>
          </a:prstGeom>
          <a:solidFill>
            <a:srgbClr val="1155A6"/>
          </a:solidFill>
          <a:ln w="12700">
            <a:solidFill>
              <a:srgbClr val="1155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54880" y="1871890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04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21808" y="195518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n-US" sz="1050" b="1" dirty="0">
                <a:solidFill>
                  <a:srgbClr val="0C1F35"/>
                </a:solidFill>
                <a:latin typeface="Tenorite" panose="00000500000000000000" pitchFamily="2" charset="0"/>
              </a:rPr>
              <a:t>How We Will Know It Worked</a:t>
            </a:r>
            <a:endParaRPr lang="en-US" sz="105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92608" y="2566834"/>
            <a:ext cx="427939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92608" y="2566834"/>
            <a:ext cx="47548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92608" y="2566834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05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9536" y="266913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n-US" sz="1050" b="1" dirty="0">
                <a:solidFill>
                  <a:srgbClr val="0C1F35"/>
                </a:solidFill>
                <a:latin typeface="Tenorite" panose="00000500000000000000" pitchFamily="2" charset="0"/>
              </a:rPr>
              <a:t>Current OPEX /AMC Spend</a:t>
            </a:r>
            <a:endParaRPr lang="en-US" sz="105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54880" y="2566834"/>
            <a:ext cx="427939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0" y="2566834"/>
            <a:ext cx="475488" cy="621792"/>
          </a:xfrm>
          <a:prstGeom prst="rect">
            <a:avLst/>
          </a:prstGeom>
          <a:solidFill>
            <a:srgbClr val="1155A6"/>
          </a:solidFill>
          <a:ln w="12700">
            <a:solidFill>
              <a:srgbClr val="1155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54880" y="2566834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06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77323" y="340465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n-US" sz="1050" b="1" dirty="0">
                <a:solidFill>
                  <a:srgbClr val="0C1F35"/>
                </a:solidFill>
                <a:latin typeface="Tenorite" panose="00000500000000000000" pitchFamily="2" charset="0"/>
              </a:rPr>
              <a:t>Migration Risk &amp; Dependencies</a:t>
            </a:r>
            <a:endParaRPr lang="en-US" sz="105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92608" y="3261778"/>
            <a:ext cx="475488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92608" y="3261778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07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54880" y="3261778"/>
            <a:ext cx="427939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754880" y="3261778"/>
            <a:ext cx="475488" cy="621792"/>
          </a:xfrm>
          <a:prstGeom prst="rect">
            <a:avLst/>
          </a:prstGeom>
          <a:solidFill>
            <a:srgbClr val="1155A6"/>
          </a:solidFill>
          <a:ln w="12700">
            <a:solidFill>
              <a:srgbClr val="1155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754880" y="3261778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08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F9D9493-4698-6457-104E-FAFA61B2F007}"/>
              </a:ext>
            </a:extLst>
          </p:cNvPr>
          <p:cNvCxnSpPr/>
          <p:nvPr/>
        </p:nvCxnSpPr>
        <p:spPr>
          <a:xfrm>
            <a:off x="0" y="4794538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0575E5"/>
                </a:gs>
                <a:gs pos="100000">
                  <a:srgbClr val="00F26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Subtitle 2">
            <a:extLst>
              <a:ext uri="{FF2B5EF4-FFF2-40B4-BE49-F238E27FC236}">
                <a16:creationId xmlns:a16="http://schemas.microsoft.com/office/drawing/2014/main" id="{71099FF1-26CB-A372-6045-478CA71D1FD8}"/>
              </a:ext>
            </a:extLst>
          </p:cNvPr>
          <p:cNvSpPr txBox="1">
            <a:spLocks/>
          </p:cNvSpPr>
          <p:nvPr/>
        </p:nvSpPr>
        <p:spPr>
          <a:xfrm>
            <a:off x="4627143" y="4839800"/>
            <a:ext cx="3154766" cy="2631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Driving </a:t>
            </a:r>
            <a:r>
              <a:rPr kumimoji="0" lang="en-MY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Success </a:t>
            </a: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through </a:t>
            </a:r>
            <a:r>
              <a:rPr kumimoji="0" lang="en-MY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TEAMs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(Transformation, Engagement &amp; Efficiency, Agility, Modernization)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70952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710FFA84-4350-2BF8-82B4-4AF7B6ACE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233" y="4817069"/>
            <a:ext cx="938446" cy="308610"/>
          </a:xfrm>
          <a:prstGeom prst="rect">
            <a:avLst/>
          </a:prstGeom>
        </p:spPr>
      </p:pic>
      <p:sp>
        <p:nvSpPr>
          <p:cNvPr id="68" name="Subtitle 2">
            <a:extLst>
              <a:ext uri="{FF2B5EF4-FFF2-40B4-BE49-F238E27FC236}">
                <a16:creationId xmlns:a16="http://schemas.microsoft.com/office/drawing/2014/main" id="{DF273781-A7AF-7C6D-2068-07014F933FDB}"/>
              </a:ext>
            </a:extLst>
          </p:cNvPr>
          <p:cNvSpPr txBox="1">
            <a:spLocks/>
          </p:cNvSpPr>
          <p:nvPr/>
        </p:nvSpPr>
        <p:spPr>
          <a:xfrm>
            <a:off x="2185838" y="4825950"/>
            <a:ext cx="2286000" cy="2908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Deliver Trusted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&amp;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Innovative</a:t>
            </a:r>
            <a:b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</a:b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Digital Services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 for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Everyone.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69" name="Subtitle 2">
            <a:extLst>
              <a:ext uri="{FF2B5EF4-FFF2-40B4-BE49-F238E27FC236}">
                <a16:creationId xmlns:a16="http://schemas.microsoft.com/office/drawing/2014/main" id="{01B26F2B-B574-4F15-E56A-F5F0B7A8FBB0}"/>
              </a:ext>
            </a:extLst>
          </p:cNvPr>
          <p:cNvSpPr txBox="1">
            <a:spLocks/>
          </p:cNvSpPr>
          <p:nvPr/>
        </p:nvSpPr>
        <p:spPr>
          <a:xfrm>
            <a:off x="8293" y="4881349"/>
            <a:ext cx="2286000" cy="1800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Information Technology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62" name="Shape 38">
            <a:extLst>
              <a:ext uri="{FF2B5EF4-FFF2-40B4-BE49-F238E27FC236}">
                <a16:creationId xmlns:a16="http://schemas.microsoft.com/office/drawing/2014/main" id="{8502C864-33FC-C2EB-A44D-C4AA7B2E45E6}"/>
              </a:ext>
            </a:extLst>
          </p:cNvPr>
          <p:cNvSpPr/>
          <p:nvPr/>
        </p:nvSpPr>
        <p:spPr>
          <a:xfrm>
            <a:off x="292608" y="3977478"/>
            <a:ext cx="427939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96D9F0C2-A1BA-3991-6795-2934BDE9E743}"/>
              </a:ext>
            </a:extLst>
          </p:cNvPr>
          <p:cNvSpPr/>
          <p:nvPr/>
        </p:nvSpPr>
        <p:spPr>
          <a:xfrm>
            <a:off x="292608" y="3977478"/>
            <a:ext cx="475488" cy="621792"/>
          </a:xfrm>
          <a:prstGeom prst="rect">
            <a:avLst/>
          </a:prstGeom>
          <a:solidFill>
            <a:srgbClr val="1155A6"/>
          </a:solidFill>
          <a:ln w="12700">
            <a:solidFill>
              <a:srgbClr val="1155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71" name="Text 40">
            <a:extLst>
              <a:ext uri="{FF2B5EF4-FFF2-40B4-BE49-F238E27FC236}">
                <a16:creationId xmlns:a16="http://schemas.microsoft.com/office/drawing/2014/main" id="{3B3B3200-EBAB-6254-642E-06F5AB0CA357}"/>
              </a:ext>
            </a:extLst>
          </p:cNvPr>
          <p:cNvSpPr/>
          <p:nvPr/>
        </p:nvSpPr>
        <p:spPr>
          <a:xfrm>
            <a:off x="292608" y="3977478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09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73" name="Text 41">
            <a:extLst>
              <a:ext uri="{FF2B5EF4-FFF2-40B4-BE49-F238E27FC236}">
                <a16:creationId xmlns:a16="http://schemas.microsoft.com/office/drawing/2014/main" id="{B83D6A19-5384-5B70-9D36-7088839FECF2}"/>
              </a:ext>
            </a:extLst>
          </p:cNvPr>
          <p:cNvSpPr/>
          <p:nvPr/>
        </p:nvSpPr>
        <p:spPr>
          <a:xfrm>
            <a:off x="859536" y="4079565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C1F35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Next Steps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78551" y="333638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C1F35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Technical Migration Plan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75" name="Text 31">
            <a:extLst>
              <a:ext uri="{FF2B5EF4-FFF2-40B4-BE49-F238E27FC236}">
                <a16:creationId xmlns:a16="http://schemas.microsoft.com/office/drawing/2014/main" id="{562FEBCA-B1D9-923F-303D-2EA5AD61A78F}"/>
              </a:ext>
            </a:extLst>
          </p:cNvPr>
          <p:cNvSpPr/>
          <p:nvPr/>
        </p:nvSpPr>
        <p:spPr>
          <a:xfrm>
            <a:off x="5378551" y="267484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C1F35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Cost Benefits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19FC619E-A5AA-FB2B-E63B-4B0202364659}"/>
              </a:ext>
            </a:extLst>
          </p:cNvPr>
          <p:cNvSpPr/>
          <p:nvPr/>
        </p:nvSpPr>
        <p:spPr>
          <a:xfrm>
            <a:off x="5321808" y="1271509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n-US" sz="1050" b="1" dirty="0">
                <a:solidFill>
                  <a:srgbClr val="0C1F35"/>
                </a:solidFill>
                <a:latin typeface="Tenorite" panose="00000500000000000000" pitchFamily="2" charset="0"/>
              </a:rPr>
              <a:t>Why We Are Moving from MIS</a:t>
            </a:r>
            <a:endParaRPr lang="en-US" sz="105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CAB7E8EB-55BC-7988-9F77-951B168BBF7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323" t="26205" r="8720" b="26872"/>
          <a:stretch/>
        </p:blipFill>
        <p:spPr>
          <a:xfrm>
            <a:off x="8654479" y="8444"/>
            <a:ext cx="457200" cy="4488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ExecTitle"/>
          <p:cNvSpPr/>
          <p:nvPr/>
        </p:nvSpPr>
        <p:spPr>
          <a:xfrm>
            <a:off x="408192" y="420000"/>
            <a:ext cx="65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1418"/>
                </a:solidFill>
                <a:effectLst/>
                <a:uLnTx/>
                <a:uFillTx/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Executive Summary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02" name="ExecQuote"/>
          <p:cNvSpPr/>
          <p:nvPr/>
        </p:nvSpPr>
        <p:spPr>
          <a:xfrm>
            <a:off x="408192" y="1020000"/>
            <a:ext cx="84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1B1F2E"/>
                </a:solidFill>
                <a:effectLst/>
                <a:uLnTx/>
                <a:uFillTx/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“Retiring </a:t>
            </a: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31507A"/>
                </a:solidFill>
                <a:effectLst/>
                <a:uLnTx/>
                <a:uFillTx/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MIS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1B1F2E"/>
                </a:solidFill>
                <a:effectLst/>
                <a:uLnTx/>
                <a:uFillTx/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, consolidating into </a:t>
            </a: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1E9E8C"/>
                </a:solidFill>
                <a:effectLst/>
                <a:uLnTx/>
                <a:uFillTx/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AEP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1B1F2E"/>
                </a:solidFill>
                <a:effectLst/>
                <a:uLnTx/>
                <a:uFillTx/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, and laying the foundation for our </a:t>
            </a: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D89A3E"/>
                </a:solidFill>
                <a:effectLst/>
                <a:uLnTx/>
                <a:uFillTx/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data lakehouse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1B1F2E"/>
                </a:solidFill>
                <a:effectLst/>
                <a:uLnTx/>
                <a:uFillTx/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.”</a:t>
            </a:r>
            <a:endParaRPr kumimoji="0" lang="en-US" sz="15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10" name="PillarCard1Bg"/>
          <p:cNvSpPr/>
          <p:nvPr/>
        </p:nvSpPr>
        <p:spPr>
          <a:xfrm>
            <a:off x="6167649" y="1807674"/>
            <a:ext cx="2659380" cy="1268730"/>
          </a:xfrm>
          <a:prstGeom prst="roundRect">
            <a:avLst>
              <a:gd name="adj" fmla="val 3784"/>
            </a:avLst>
          </a:prstGeom>
          <a:solidFill>
            <a:srgbClr val="00206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11" name="PillarCard1Badge"/>
          <p:cNvSpPr/>
          <p:nvPr/>
        </p:nvSpPr>
        <p:spPr>
          <a:xfrm>
            <a:off x="6318525" y="1944834"/>
            <a:ext cx="274320" cy="274320"/>
          </a:xfrm>
          <a:prstGeom prst="ellipse">
            <a:avLst/>
          </a:prstGeom>
          <a:solidFill>
            <a:srgbClr val="D8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12" name="PillarCard1Num"/>
          <p:cNvSpPr/>
          <p:nvPr/>
        </p:nvSpPr>
        <p:spPr>
          <a:xfrm>
            <a:off x="6318525" y="19448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75" b="1" dirty="0">
                <a:solidFill>
                  <a:srgbClr val="141B47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13" name="PillarCard1Title"/>
          <p:cNvSpPr/>
          <p:nvPr/>
        </p:nvSpPr>
        <p:spPr>
          <a:xfrm>
            <a:off x="6681999" y="1931118"/>
            <a:ext cx="20690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RETIRE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14" name="PillarCard1Desc"/>
          <p:cNvSpPr/>
          <p:nvPr/>
        </p:nvSpPr>
        <p:spPr>
          <a:xfrm>
            <a:off x="6373389" y="2322024"/>
            <a:ext cx="230908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Decommission the outdated, unsupported MIS platform (Oracle 11g, end-of-life hardware).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20" name="PillarCard2Bg"/>
          <p:cNvSpPr/>
          <p:nvPr/>
        </p:nvSpPr>
        <p:spPr>
          <a:xfrm>
            <a:off x="391689" y="1807674"/>
            <a:ext cx="2659380" cy="1268730"/>
          </a:xfrm>
          <a:prstGeom prst="roundRect">
            <a:avLst>
              <a:gd name="adj" fmla="val 3784"/>
            </a:avLst>
          </a:prstGeom>
          <a:solidFill>
            <a:srgbClr val="00206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21" name="PillarCard2Badge"/>
          <p:cNvSpPr/>
          <p:nvPr/>
        </p:nvSpPr>
        <p:spPr>
          <a:xfrm>
            <a:off x="542565" y="1944834"/>
            <a:ext cx="274320" cy="274320"/>
          </a:xfrm>
          <a:prstGeom prst="ellipse">
            <a:avLst/>
          </a:prstGeom>
          <a:solidFill>
            <a:srgbClr val="D8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22" name="PillarCard2Num"/>
          <p:cNvSpPr/>
          <p:nvPr/>
        </p:nvSpPr>
        <p:spPr>
          <a:xfrm>
            <a:off x="542565" y="19448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75" b="1" dirty="0">
                <a:solidFill>
                  <a:srgbClr val="141B47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23" name="PillarCard2Title"/>
          <p:cNvSpPr/>
          <p:nvPr/>
        </p:nvSpPr>
        <p:spPr>
          <a:xfrm>
            <a:off x="906039" y="1931118"/>
            <a:ext cx="20690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CONSOLIDATE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24" name="PillarCard2Desc"/>
          <p:cNvSpPr/>
          <p:nvPr/>
        </p:nvSpPr>
        <p:spPr>
          <a:xfrm>
            <a:off x="597429" y="2322024"/>
            <a:ext cx="230908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Migrate its data &amp; reporting into our existing AEP/BI system  one source of truth.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30" name="PillarCard3Bg"/>
          <p:cNvSpPr/>
          <p:nvPr/>
        </p:nvSpPr>
        <p:spPr>
          <a:xfrm>
            <a:off x="3279669" y="1807674"/>
            <a:ext cx="2659380" cy="1268730"/>
          </a:xfrm>
          <a:prstGeom prst="roundRect">
            <a:avLst>
              <a:gd name="adj" fmla="val 3784"/>
            </a:avLst>
          </a:prstGeom>
          <a:solidFill>
            <a:srgbClr val="00206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31" name="PillarCard3Badge"/>
          <p:cNvSpPr/>
          <p:nvPr/>
        </p:nvSpPr>
        <p:spPr>
          <a:xfrm>
            <a:off x="3430545" y="1944834"/>
            <a:ext cx="274320" cy="274320"/>
          </a:xfrm>
          <a:prstGeom prst="ellipse">
            <a:avLst/>
          </a:prstGeom>
          <a:solidFill>
            <a:srgbClr val="D8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32" name="PillarCard3Num"/>
          <p:cNvSpPr/>
          <p:nvPr/>
        </p:nvSpPr>
        <p:spPr>
          <a:xfrm>
            <a:off x="3430545" y="19448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75" b="1" dirty="0">
                <a:solidFill>
                  <a:srgbClr val="141B47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33" name="PillarCard3Title"/>
          <p:cNvSpPr/>
          <p:nvPr/>
        </p:nvSpPr>
        <p:spPr>
          <a:xfrm>
            <a:off x="3794019" y="1931118"/>
            <a:ext cx="20690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BUILD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34" name="PillarCard3Desc"/>
          <p:cNvSpPr/>
          <p:nvPr/>
        </p:nvSpPr>
        <p:spPr>
          <a:xfrm>
            <a:off x="3485409" y="2322024"/>
            <a:ext cx="230908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Lay the clean foundation for the upcoming Data Lakehouse program.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60" name="BottomLineBg"/>
          <p:cNvSpPr/>
          <p:nvPr/>
        </p:nvSpPr>
        <p:spPr>
          <a:xfrm>
            <a:off x="342900" y="3420000"/>
            <a:ext cx="8435340" cy="62000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561" name="BottomLineText"/>
          <p:cNvSpPr/>
          <p:nvPr/>
        </p:nvSpPr>
        <p:spPr>
          <a:xfrm>
            <a:off x="514350" y="3420000"/>
            <a:ext cx="809244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F2E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This is the fastest, lowest-risk first step toward a single, modern data platform , cutting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cost, risk, and duplicate data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F2E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 along the way.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B195F1-D849-D3DA-F3C8-C57EE08264E1}"/>
              </a:ext>
            </a:extLst>
          </p:cNvPr>
          <p:cNvCxnSpPr/>
          <p:nvPr/>
        </p:nvCxnSpPr>
        <p:spPr>
          <a:xfrm>
            <a:off x="0" y="4788275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0575E5"/>
                </a:gs>
                <a:gs pos="100000">
                  <a:srgbClr val="00F26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ubtitle 2">
            <a:extLst>
              <a:ext uri="{FF2B5EF4-FFF2-40B4-BE49-F238E27FC236}">
                <a16:creationId xmlns:a16="http://schemas.microsoft.com/office/drawing/2014/main" id="{11720E39-77EC-B11C-D8BE-CE04DE80421F}"/>
              </a:ext>
            </a:extLst>
          </p:cNvPr>
          <p:cNvSpPr txBox="1">
            <a:spLocks/>
          </p:cNvSpPr>
          <p:nvPr/>
        </p:nvSpPr>
        <p:spPr>
          <a:xfrm>
            <a:off x="4627143" y="4839800"/>
            <a:ext cx="3154766" cy="2631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Driving </a:t>
            </a:r>
            <a:r>
              <a:rPr kumimoji="0" lang="en-MY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Success </a:t>
            </a: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through </a:t>
            </a:r>
            <a:r>
              <a:rPr kumimoji="0" lang="en-MY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TEAMs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(Transformation, Engagement &amp; Efficiency, Agility, Modernization)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70952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8BDA017-357D-2EC0-3A42-31113FA12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233" y="4817069"/>
            <a:ext cx="938446" cy="308610"/>
          </a:xfrm>
          <a:prstGeom prst="rect">
            <a:avLst/>
          </a:prstGeom>
        </p:spPr>
      </p:pic>
      <p:sp>
        <p:nvSpPr>
          <p:cNvPr id="36" name="Subtitle 2">
            <a:extLst>
              <a:ext uri="{FF2B5EF4-FFF2-40B4-BE49-F238E27FC236}">
                <a16:creationId xmlns:a16="http://schemas.microsoft.com/office/drawing/2014/main" id="{D8E95FAE-FA15-85B8-4F62-72718E224407}"/>
              </a:ext>
            </a:extLst>
          </p:cNvPr>
          <p:cNvSpPr txBox="1">
            <a:spLocks/>
          </p:cNvSpPr>
          <p:nvPr/>
        </p:nvSpPr>
        <p:spPr>
          <a:xfrm>
            <a:off x="2185838" y="4825950"/>
            <a:ext cx="2286000" cy="2908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Deliver Trusted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&amp;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Innovative</a:t>
            </a:r>
            <a:b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</a:b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Digital Services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 for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Everyone.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7F85F352-4D82-CB59-1911-C89BEEABB21C}"/>
              </a:ext>
            </a:extLst>
          </p:cNvPr>
          <p:cNvSpPr txBox="1">
            <a:spLocks/>
          </p:cNvSpPr>
          <p:nvPr/>
        </p:nvSpPr>
        <p:spPr>
          <a:xfrm>
            <a:off x="8293" y="4881349"/>
            <a:ext cx="2286000" cy="1800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Information Technology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3A171B3-30EF-846D-C0D0-9846BD8B6DD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323" t="26205" r="8720" b="26872"/>
          <a:stretch/>
        </p:blipFill>
        <p:spPr>
          <a:xfrm>
            <a:off x="8682478" y="0"/>
            <a:ext cx="457200" cy="4488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580" y="313358"/>
            <a:ext cx="336705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0" cap="none" spc="202" normalizeH="0" baseline="0" noProof="0" dirty="0">
                <a:ln>
                  <a:noFill/>
                </a:ln>
                <a:solidFill>
                  <a:srgbClr val="E27735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MIS → AEP | PROJECT PURPOSE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580" y="501476"/>
            <a:ext cx="6751439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151" normalizeH="0" baseline="0" noProof="0" dirty="0">
                <a:ln>
                  <a:noFill/>
                </a:ln>
                <a:solidFill>
                  <a:srgbClr val="173F5F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Why we are moving MIS to AEP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580" y="951274"/>
            <a:ext cx="605250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10" b="0" i="0" u="none" strike="noStrike" kern="1200" cap="none" spc="0" normalizeH="0" baseline="0" noProof="0" dirty="0">
                <a:ln>
                  <a:noFill/>
                </a:ln>
                <a:solidFill>
                  <a:srgbClr val="63717B"/>
                </a:solidFill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Make AEP the central platform for reporting and analytics.</a:t>
            </a:r>
            <a:endParaRPr kumimoji="0" lang="en-US" sz="15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328FC8-EF36-9BC1-7E92-7357C8634F95}"/>
              </a:ext>
            </a:extLst>
          </p:cNvPr>
          <p:cNvCxnSpPr/>
          <p:nvPr/>
        </p:nvCxnSpPr>
        <p:spPr>
          <a:xfrm>
            <a:off x="0" y="4788275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0575E5"/>
                </a:gs>
                <a:gs pos="100000">
                  <a:srgbClr val="00F26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ubtitle 2">
            <a:extLst>
              <a:ext uri="{FF2B5EF4-FFF2-40B4-BE49-F238E27FC236}">
                <a16:creationId xmlns:a16="http://schemas.microsoft.com/office/drawing/2014/main" id="{0EE5A629-004D-D0E5-1EE7-4F2B4771A447}"/>
              </a:ext>
            </a:extLst>
          </p:cNvPr>
          <p:cNvSpPr txBox="1">
            <a:spLocks/>
          </p:cNvSpPr>
          <p:nvPr/>
        </p:nvSpPr>
        <p:spPr>
          <a:xfrm>
            <a:off x="4627143" y="4839800"/>
            <a:ext cx="3154766" cy="2631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Driving </a:t>
            </a:r>
            <a:r>
              <a:rPr kumimoji="0" lang="en-MY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Success </a:t>
            </a: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through </a:t>
            </a:r>
            <a:r>
              <a:rPr kumimoji="0" lang="en-MY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TEAMs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(Transformation, Engagement &amp; Efficiency, Agility, Modernization)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70952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9C41068-04DB-9A9A-18D4-9304A1D28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233" y="4817069"/>
            <a:ext cx="938446" cy="308610"/>
          </a:xfrm>
          <a:prstGeom prst="rect">
            <a:avLst/>
          </a:prstGeom>
        </p:spPr>
      </p:pic>
      <p:sp>
        <p:nvSpPr>
          <p:cNvPr id="40" name="Subtitle 2">
            <a:extLst>
              <a:ext uri="{FF2B5EF4-FFF2-40B4-BE49-F238E27FC236}">
                <a16:creationId xmlns:a16="http://schemas.microsoft.com/office/drawing/2014/main" id="{D7F20287-334C-A072-0EB4-978D5DEF0256}"/>
              </a:ext>
            </a:extLst>
          </p:cNvPr>
          <p:cNvSpPr txBox="1">
            <a:spLocks/>
          </p:cNvSpPr>
          <p:nvPr/>
        </p:nvSpPr>
        <p:spPr>
          <a:xfrm>
            <a:off x="2185838" y="4825950"/>
            <a:ext cx="2286000" cy="2908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Deliver Trusted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&amp;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Innovative</a:t>
            </a:r>
            <a:b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</a:b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Digital Services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 for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Everyone.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6EE52A4A-D05E-28B5-CBC1-2C7F95CC5FC9}"/>
              </a:ext>
            </a:extLst>
          </p:cNvPr>
          <p:cNvSpPr txBox="1">
            <a:spLocks/>
          </p:cNvSpPr>
          <p:nvPr/>
        </p:nvSpPr>
        <p:spPr>
          <a:xfrm>
            <a:off x="8293" y="4881349"/>
            <a:ext cx="2286000" cy="1800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Information Technology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pic>
        <p:nvPicPr>
          <p:cNvPr id="43" name="Picture 42" descr="Logo&#10;&#10;Description automatically generated">
            <a:extLst>
              <a:ext uri="{FF2B5EF4-FFF2-40B4-BE49-F238E27FC236}">
                <a16:creationId xmlns:a16="http://schemas.microsoft.com/office/drawing/2014/main" id="{34E9E11D-5226-205D-47BF-B6AB9C51FCB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323" t="26205" r="8720" b="26872"/>
          <a:stretch/>
        </p:blipFill>
        <p:spPr>
          <a:xfrm>
            <a:off x="8633689" y="42335"/>
            <a:ext cx="457200" cy="448844"/>
          </a:xfrm>
          <a:prstGeom prst="rect">
            <a:avLst/>
          </a:prstGeom>
        </p:spPr>
      </p:pic>
      <p:pic>
        <p:nvPicPr>
          <p:cNvPr id="71" name="Image 0" descr="preencoded.png">
            <a:extLst>
              <a:ext uri="{FF2B5EF4-FFF2-40B4-BE49-F238E27FC236}">
                <a16:creationId xmlns:a16="http://schemas.microsoft.com/office/drawing/2014/main" id="{261C6BA1-B608-5C5A-7218-EE16FE5808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07" y="1816670"/>
            <a:ext cx="1923332" cy="1013073"/>
          </a:xfrm>
          <a:prstGeom prst="rect">
            <a:avLst/>
          </a:prstGeom>
        </p:spPr>
      </p:pic>
      <p:sp>
        <p:nvSpPr>
          <p:cNvPr id="73" name="Text 3">
            <a:extLst>
              <a:ext uri="{FF2B5EF4-FFF2-40B4-BE49-F238E27FC236}">
                <a16:creationId xmlns:a16="http://schemas.microsoft.com/office/drawing/2014/main" id="{32962BAD-1F84-B74B-7F43-5966B997EFD3}"/>
              </a:ext>
            </a:extLst>
          </p:cNvPr>
          <p:cNvSpPr/>
          <p:nvPr/>
        </p:nvSpPr>
        <p:spPr>
          <a:xfrm>
            <a:off x="680947" y="1944365"/>
            <a:ext cx="161080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85800">
              <a:lnSpc>
                <a:spcPct val="104000"/>
              </a:lnSpc>
            </a:pPr>
            <a:r>
              <a:rPr lang="en-US" sz="1200" b="1" kern="0" spc="-34" dirty="0">
                <a:solidFill>
                  <a:srgbClr val="272525"/>
                </a:solidFill>
                <a:latin typeface="Tenorite" panose="00000500000000000000" pitchFamily="2" charset="0"/>
                <a:ea typeface="Inter Bold" pitchFamily="34" charset="-122"/>
                <a:cs typeface="Inter Bold" pitchFamily="34" charset="-120"/>
              </a:rPr>
              <a:t>Duplicate Data</a:t>
            </a:r>
            <a:endParaRPr lang="en-US" sz="12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5" name="Text 4">
            <a:extLst>
              <a:ext uri="{FF2B5EF4-FFF2-40B4-BE49-F238E27FC236}">
                <a16:creationId xmlns:a16="http://schemas.microsoft.com/office/drawing/2014/main" id="{C33042C8-8AAE-8005-A154-735C8584FCB0}"/>
              </a:ext>
            </a:extLst>
          </p:cNvPr>
          <p:cNvSpPr/>
          <p:nvPr/>
        </p:nvSpPr>
        <p:spPr>
          <a:xfrm>
            <a:off x="680947" y="2212255"/>
            <a:ext cx="1610801" cy="489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685800">
              <a:lnSpc>
                <a:spcPct val="120000"/>
              </a:lnSpc>
            </a:pPr>
            <a:r>
              <a:rPr lang="en-US" sz="1000" kern="0" spc="-18" dirty="0">
                <a:solidFill>
                  <a:srgbClr val="272525"/>
                </a:solidFill>
                <a:latin typeface="Tenorite" panose="00000500000000000000" pitchFamily="2" charset="0"/>
                <a:ea typeface="Inter" pitchFamily="34" charset="-122"/>
                <a:cs typeface="Inter" pitchFamily="34" charset="-120"/>
              </a:rPr>
              <a:t>Same source data managed in both MIS and AEP simultaneously</a:t>
            </a:r>
            <a:endParaRPr lang="en-US" sz="10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pic>
        <p:nvPicPr>
          <p:cNvPr id="77" name="Image 1" descr="preencoded.png">
            <a:extLst>
              <a:ext uri="{FF2B5EF4-FFF2-40B4-BE49-F238E27FC236}">
                <a16:creationId xmlns:a16="http://schemas.microsoft.com/office/drawing/2014/main" id="{818D7EA8-AD79-05BC-FB5F-762F87D1EA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0146" y="1816670"/>
            <a:ext cx="1923407" cy="1013073"/>
          </a:xfrm>
          <a:prstGeom prst="rect">
            <a:avLst/>
          </a:prstGeom>
        </p:spPr>
      </p:pic>
      <p:sp>
        <p:nvSpPr>
          <p:cNvPr id="79" name="Text 5">
            <a:extLst>
              <a:ext uri="{FF2B5EF4-FFF2-40B4-BE49-F238E27FC236}">
                <a16:creationId xmlns:a16="http://schemas.microsoft.com/office/drawing/2014/main" id="{145267AB-4B97-210B-A321-6830AF13665F}"/>
              </a:ext>
            </a:extLst>
          </p:cNvPr>
          <p:cNvSpPr/>
          <p:nvPr/>
        </p:nvSpPr>
        <p:spPr>
          <a:xfrm>
            <a:off x="2694987" y="1944365"/>
            <a:ext cx="161087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85800">
              <a:lnSpc>
                <a:spcPct val="104000"/>
              </a:lnSpc>
            </a:pPr>
            <a:r>
              <a:rPr lang="en-US" sz="1200" b="1" kern="0" spc="-34" dirty="0">
                <a:solidFill>
                  <a:srgbClr val="272525"/>
                </a:solidFill>
                <a:latin typeface="Tenorite" panose="00000500000000000000" pitchFamily="2" charset="0"/>
                <a:ea typeface="Inter Bold" pitchFamily="34" charset="-122"/>
                <a:cs typeface="Inter Bold" pitchFamily="34" charset="-120"/>
              </a:rPr>
              <a:t>Platform Risk</a:t>
            </a:r>
            <a:endParaRPr lang="en-US" sz="12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A2B10A33-4DBB-79E8-F6EE-5EDD16318F61}"/>
              </a:ext>
            </a:extLst>
          </p:cNvPr>
          <p:cNvSpPr/>
          <p:nvPr/>
        </p:nvSpPr>
        <p:spPr>
          <a:xfrm>
            <a:off x="2694987" y="2212255"/>
            <a:ext cx="1610876" cy="489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685800">
              <a:lnSpc>
                <a:spcPct val="120000"/>
              </a:lnSpc>
            </a:pPr>
            <a:r>
              <a:rPr lang="en-US" sz="1000" kern="0" spc="-18" dirty="0">
                <a:solidFill>
                  <a:srgbClr val="272525"/>
                </a:solidFill>
                <a:latin typeface="Tenorite" panose="00000500000000000000" pitchFamily="2" charset="0"/>
                <a:ea typeface="Inter" pitchFamily="34" charset="-122"/>
                <a:cs typeface="Inter" pitchFamily="34" charset="-120"/>
              </a:rPr>
              <a:t>Oracle 11g and ageing hardware have limited vendor support</a:t>
            </a:r>
            <a:endParaRPr lang="en-US" sz="10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pic>
        <p:nvPicPr>
          <p:cNvPr id="83" name="Image 2" descr="preencoded.png">
            <a:extLst>
              <a:ext uri="{FF2B5EF4-FFF2-40B4-BE49-F238E27FC236}">
                <a16:creationId xmlns:a16="http://schemas.microsoft.com/office/drawing/2014/main" id="{2389F4DA-C3FB-2A51-41DF-A8E97342B9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07" y="2920454"/>
            <a:ext cx="1923332" cy="1013073"/>
          </a:xfrm>
          <a:prstGeom prst="rect">
            <a:avLst/>
          </a:prstGeom>
        </p:spPr>
      </p:pic>
      <p:sp>
        <p:nvSpPr>
          <p:cNvPr id="85" name="Text 7">
            <a:extLst>
              <a:ext uri="{FF2B5EF4-FFF2-40B4-BE49-F238E27FC236}">
                <a16:creationId xmlns:a16="http://schemas.microsoft.com/office/drawing/2014/main" id="{92F3E385-980E-94AC-FAD6-E7C4829445E3}"/>
              </a:ext>
            </a:extLst>
          </p:cNvPr>
          <p:cNvSpPr/>
          <p:nvPr/>
        </p:nvSpPr>
        <p:spPr>
          <a:xfrm>
            <a:off x="680947" y="3048149"/>
            <a:ext cx="161080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85800">
              <a:lnSpc>
                <a:spcPct val="104000"/>
              </a:lnSpc>
            </a:pPr>
            <a:r>
              <a:rPr lang="en-US" sz="1200" b="1" kern="0" spc="-34" dirty="0">
                <a:solidFill>
                  <a:srgbClr val="272525"/>
                </a:solidFill>
                <a:latin typeface="Tenorite" panose="00000500000000000000" pitchFamily="2" charset="0"/>
                <a:ea typeface="Inter Bold" pitchFamily="34" charset="-122"/>
                <a:cs typeface="Inter Bold" pitchFamily="34" charset="-120"/>
              </a:rPr>
              <a:t>Higher Cost</a:t>
            </a:r>
            <a:endParaRPr lang="en-US" sz="12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18284EBC-0416-FF4E-EED7-9685FC764064}"/>
              </a:ext>
            </a:extLst>
          </p:cNvPr>
          <p:cNvSpPr/>
          <p:nvPr/>
        </p:nvSpPr>
        <p:spPr>
          <a:xfrm>
            <a:off x="680947" y="3316039"/>
            <a:ext cx="1610801" cy="489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685800">
              <a:lnSpc>
                <a:spcPct val="120000"/>
              </a:lnSpc>
            </a:pPr>
            <a:r>
              <a:rPr lang="en-US" sz="1000" kern="0" spc="-18" dirty="0">
                <a:solidFill>
                  <a:srgbClr val="272525"/>
                </a:solidFill>
                <a:latin typeface="Tenorite" panose="00000500000000000000" pitchFamily="2" charset="0"/>
                <a:ea typeface="Inter" pitchFamily="34" charset="-122"/>
                <a:cs typeface="Inter" pitchFamily="34" charset="-120"/>
              </a:rPr>
              <a:t>Separate licences, support, power and operations repeat every year</a:t>
            </a:r>
            <a:endParaRPr lang="en-US" sz="10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pic>
        <p:nvPicPr>
          <p:cNvPr id="89" name="Image 3" descr="preencoded.png">
            <a:extLst>
              <a:ext uri="{FF2B5EF4-FFF2-40B4-BE49-F238E27FC236}">
                <a16:creationId xmlns:a16="http://schemas.microsoft.com/office/drawing/2014/main" id="{832A9D49-DA18-515D-3AB6-92B13E48B0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0146" y="2920454"/>
            <a:ext cx="1923407" cy="1013073"/>
          </a:xfrm>
          <a:prstGeom prst="rect">
            <a:avLst/>
          </a:prstGeom>
        </p:spPr>
      </p:pic>
      <p:sp>
        <p:nvSpPr>
          <p:cNvPr id="91" name="Text 9">
            <a:extLst>
              <a:ext uri="{FF2B5EF4-FFF2-40B4-BE49-F238E27FC236}">
                <a16:creationId xmlns:a16="http://schemas.microsoft.com/office/drawing/2014/main" id="{C4D7514E-4351-1957-3514-C62F64222917}"/>
              </a:ext>
            </a:extLst>
          </p:cNvPr>
          <p:cNvSpPr/>
          <p:nvPr/>
        </p:nvSpPr>
        <p:spPr>
          <a:xfrm>
            <a:off x="2694987" y="3048149"/>
            <a:ext cx="161087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85800">
              <a:lnSpc>
                <a:spcPct val="104000"/>
              </a:lnSpc>
            </a:pPr>
            <a:r>
              <a:rPr lang="en-US" sz="1200" b="1" kern="0" spc="-34" dirty="0">
                <a:solidFill>
                  <a:srgbClr val="272525"/>
                </a:solidFill>
                <a:latin typeface="Tenorite" panose="00000500000000000000" pitchFamily="2" charset="0"/>
                <a:ea typeface="Inter Bold" pitchFamily="34" charset="-122"/>
                <a:cs typeface="Inter Bold" pitchFamily="34" charset="-120"/>
              </a:rPr>
              <a:t>Slower Change</a:t>
            </a:r>
            <a:endParaRPr lang="en-US" sz="12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3" name="Text 10">
            <a:extLst>
              <a:ext uri="{FF2B5EF4-FFF2-40B4-BE49-F238E27FC236}">
                <a16:creationId xmlns:a16="http://schemas.microsoft.com/office/drawing/2014/main" id="{E7D1C194-C7B0-CD6B-DC71-B792A13E15A1}"/>
              </a:ext>
            </a:extLst>
          </p:cNvPr>
          <p:cNvSpPr/>
          <p:nvPr/>
        </p:nvSpPr>
        <p:spPr>
          <a:xfrm>
            <a:off x="2694987" y="3316039"/>
            <a:ext cx="1610876" cy="489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685800">
              <a:lnSpc>
                <a:spcPct val="120000"/>
              </a:lnSpc>
            </a:pPr>
            <a:r>
              <a:rPr lang="en-US" sz="1000" kern="0" spc="-18" dirty="0">
                <a:solidFill>
                  <a:srgbClr val="272525"/>
                </a:solidFill>
                <a:latin typeface="Tenorite" panose="00000500000000000000" pitchFamily="2" charset="0"/>
                <a:ea typeface="Inter" pitchFamily="34" charset="-122"/>
                <a:cs typeface="Inter" pitchFamily="34" charset="-120"/>
              </a:rPr>
              <a:t>Two platforms require duplicate fixes and development effort</a:t>
            </a:r>
            <a:endParaRPr lang="en-US" sz="10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pic>
        <p:nvPicPr>
          <p:cNvPr id="95" name="Image 4" descr="preencoded.png">
            <a:extLst>
              <a:ext uri="{FF2B5EF4-FFF2-40B4-BE49-F238E27FC236}">
                <a16:creationId xmlns:a16="http://schemas.microsoft.com/office/drawing/2014/main" id="{18234AA7-EE5D-2F42-5F2B-73555FE9AE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3110" y="1300089"/>
            <a:ext cx="3149943" cy="31500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580" y="313358"/>
            <a:ext cx="379066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0" cap="none" spc="202" normalizeH="0" baseline="0" noProof="0" dirty="0">
                <a:ln>
                  <a:noFill/>
                </a:ln>
                <a:solidFill>
                  <a:srgbClr val="E27735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MIS → AEP | SCOPE AND CONTROLS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580" y="501476"/>
            <a:ext cx="646586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151" normalizeH="0" baseline="0" noProof="0" dirty="0">
                <a:ln>
                  <a:noFill/>
                </a:ln>
                <a:solidFill>
                  <a:srgbClr val="173F5F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 What is included in the move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580" y="1007641"/>
            <a:ext cx="566913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10" b="0" i="0" u="none" strike="noStrike" kern="1200" cap="none" spc="0" normalizeH="0" baseline="0" noProof="0" dirty="0">
                <a:ln>
                  <a:noFill/>
                </a:ln>
                <a:solidFill>
                  <a:srgbClr val="63717B"/>
                </a:solidFill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Review every MIS item and decide what happens next.</a:t>
            </a:r>
            <a:endParaRPr kumimoji="0" lang="en-US" sz="15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7650" y="1445977"/>
            <a:ext cx="3933825" cy="2411246"/>
          </a:xfrm>
          <a:prstGeom prst="rect">
            <a:avLst/>
          </a:prstGeom>
          <a:solidFill>
            <a:srgbClr val="F4F6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722" y="1623566"/>
            <a:ext cx="219390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0" cap="none" spc="161" normalizeH="0" baseline="0" noProof="0" dirty="0">
                <a:ln>
                  <a:noFill/>
                </a:ln>
                <a:solidFill>
                  <a:srgbClr val="E27735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REVIEW THESE ITEMS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722" y="1900833"/>
            <a:ext cx="2544485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29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Data feeds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9722" y="2185913"/>
            <a:ext cx="3003701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29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000" dirty="0">
                <a:latin typeface="Tenorite" panose="00000500000000000000" pitchFamily="2" charset="0"/>
                <a:ea typeface="Source Sans 3" pitchFamily="34" charset="-122"/>
              </a:rPr>
              <a:t>Materialized views &amp; stored procedures</a:t>
            </a:r>
          </a:p>
        </p:txBody>
      </p:sp>
      <p:sp>
        <p:nvSpPr>
          <p:cNvPr id="11" name="Text 9"/>
          <p:cNvSpPr/>
          <p:nvPr/>
        </p:nvSpPr>
        <p:spPr>
          <a:xfrm>
            <a:off x="749722" y="2470993"/>
            <a:ext cx="2730899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29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ETL jobs and </a:t>
            </a:r>
            <a:r>
              <a:rPr lang="en-US" sz="1000" dirty="0">
                <a:latin typeface="Tenorite" panose="00000500000000000000" pitchFamily="2" charset="0"/>
                <a:ea typeface="Source Sans 3" pitchFamily="34" charset="-122"/>
              </a:rPr>
              <a:t>data transformations</a:t>
            </a:r>
          </a:p>
        </p:txBody>
      </p:sp>
      <p:sp>
        <p:nvSpPr>
          <p:cNvPr id="12" name="Text 10"/>
          <p:cNvSpPr/>
          <p:nvPr/>
        </p:nvSpPr>
        <p:spPr>
          <a:xfrm>
            <a:off x="749722" y="2756074"/>
            <a:ext cx="3484297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29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Dashboards and reports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722" y="3041154"/>
            <a:ext cx="2581439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APIs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2488" y="1427634"/>
            <a:ext cx="3933825" cy="2411246"/>
          </a:xfrm>
          <a:prstGeom prst="rect">
            <a:avLst/>
          </a:prstGeom>
          <a:solidFill>
            <a:srgbClr val="F4F6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64522" y="1623566"/>
            <a:ext cx="347607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0" cap="none" spc="161" normalizeH="0" baseline="0" noProof="0" dirty="0">
                <a:ln>
                  <a:noFill/>
                </a:ln>
                <a:solidFill>
                  <a:srgbClr val="173F5F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KEEP CONTROL DURING THE MOVE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64522" y="1900833"/>
            <a:ext cx="4583631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>
              <a:spcAft>
                <a:spcPts val="729"/>
              </a:spcAf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000" dirty="0">
                <a:latin typeface="Tenorite" panose="00000500000000000000" pitchFamily="2" charset="0"/>
              </a:rPr>
              <a:t>Move required historical data to AEP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64522" y="2185913"/>
            <a:ext cx="3908107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>
              <a:spcAft>
                <a:spcPts val="729"/>
              </a:spcAf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000" dirty="0">
                <a:latin typeface="Tenorite" panose="00000500000000000000" pitchFamily="2" charset="0"/>
              </a:rPr>
              <a:t>Keep audit and regulatory data safe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64522" y="2470993"/>
            <a:ext cx="4149276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>
              <a:spcAft>
                <a:spcPts val="729"/>
              </a:spcAf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000" dirty="0">
                <a:latin typeface="Tenorite" panose="00000500000000000000" pitchFamily="2" charset="0"/>
              </a:rPr>
              <a:t>Decide what to move, rebuild, combine, archive or retire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64522" y="2781162"/>
            <a:ext cx="434691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000" dirty="0">
                <a:latin typeface="Tenorite" panose="00000500000000000000" pitchFamily="2" charset="0"/>
              </a:rPr>
              <a:t>Keep critical MIS processes running until AEP is ready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7688" y="4291943"/>
            <a:ext cx="8048625" cy="595313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580" y="4399731"/>
            <a:ext cx="24375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0" b="0" i="0" u="none" strike="noStrike" kern="0" cap="none" spc="136" normalizeH="0" baseline="0" noProof="0" dirty="0">
                <a:ln>
                  <a:noFill/>
                </a:ln>
                <a:solidFill>
                  <a:srgbClr val="E27735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TEMPORARY EXCLUSIONS</a:t>
            </a:r>
            <a:endParaRPr kumimoji="0" lang="en-US" sz="9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14812" y="4371156"/>
            <a:ext cx="596428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3717B"/>
                </a:solidFill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If an item cannot move now, record the owner, reason, risk, target date and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14812" y="4534942"/>
            <a:ext cx="609584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3717B"/>
                </a:solidFill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retirement plan. Keep MIS running until checks, testing, user acceptance and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14812" y="4698727"/>
            <a:ext cx="259072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3717B"/>
                </a:solidFill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parallel operation are complete.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50" y="1445977"/>
            <a:ext cx="3933825" cy="2724150"/>
          </a:xfrm>
          <a:prstGeom prst="rect">
            <a:avLst/>
          </a:prstGeom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488" y="1445977"/>
            <a:ext cx="3933825" cy="272415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88" y="4291943"/>
            <a:ext cx="8048625" cy="595313"/>
          </a:xfrm>
          <a:prstGeom prst="rect">
            <a:avLst/>
          </a:prstGeom>
        </p:spPr>
      </p:pic>
      <p:pic>
        <p:nvPicPr>
          <p:cNvPr id="30" name="Picture 29" descr="Logo&#10;&#10;Description automatically generated">
            <a:extLst>
              <a:ext uri="{FF2B5EF4-FFF2-40B4-BE49-F238E27FC236}">
                <a16:creationId xmlns:a16="http://schemas.microsoft.com/office/drawing/2014/main" id="{8CA418C3-BCA3-EA00-C9D3-F7BECB580DE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323" t="26205" r="8720" b="26872"/>
          <a:stretch/>
        </p:blipFill>
        <p:spPr>
          <a:xfrm>
            <a:off x="8633689" y="42335"/>
            <a:ext cx="457200" cy="448844"/>
          </a:xfrm>
          <a:prstGeom prst="rect">
            <a:avLst/>
          </a:prstGeom>
        </p:spPr>
      </p:pic>
      <p:sp>
        <p:nvSpPr>
          <p:cNvPr id="36" name="Text 11">
            <a:extLst>
              <a:ext uri="{FF2B5EF4-FFF2-40B4-BE49-F238E27FC236}">
                <a16:creationId xmlns:a16="http://schemas.microsoft.com/office/drawing/2014/main" id="{B55AE3FA-2FCD-E650-1310-8C7C3B93F27B}"/>
              </a:ext>
            </a:extLst>
          </p:cNvPr>
          <p:cNvSpPr/>
          <p:nvPr/>
        </p:nvSpPr>
        <p:spPr>
          <a:xfrm>
            <a:off x="749721" y="3320560"/>
            <a:ext cx="2581439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000" dirty="0">
                <a:latin typeface="Tenorite" panose="00000500000000000000" pitchFamily="2" charset="0"/>
              </a:rPr>
              <a:t>Application integrations connected to MIS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580" y="313358"/>
            <a:ext cx="356681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0" cap="none" spc="202" normalizeH="0" baseline="0" noProof="0" dirty="0">
                <a:ln>
                  <a:noFill/>
                </a:ln>
                <a:solidFill>
                  <a:srgbClr val="E27735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MIS → AEP | SUCCESS MEASURES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580" y="501476"/>
            <a:ext cx="6081043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151" normalizeH="0" baseline="0" noProof="0" dirty="0">
                <a:ln>
                  <a:noFill/>
                </a:ln>
                <a:solidFill>
                  <a:srgbClr val="173F5F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How we will know it worked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580" y="1007641"/>
            <a:ext cx="836087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>
              <a:spcBef>
                <a:spcPts val="648"/>
              </a:spcBef>
            </a:pPr>
            <a:r>
              <a:rPr lang="en-US" sz="1510" dirty="0">
                <a:solidFill>
                  <a:srgbClr val="63717B"/>
                </a:solidFill>
                <a:latin typeface="Tenorite" panose="00000500000000000000" pitchFamily="2" charset="0"/>
                <a:ea typeface="Source Sans 3" pitchFamily="34" charset="-122"/>
              </a:rPr>
              <a:t>The migration will be considered successful when</a:t>
            </a:r>
          </a:p>
        </p:txBody>
      </p:sp>
      <p:sp>
        <p:nvSpPr>
          <p:cNvPr id="7" name="Shape 5"/>
          <p:cNvSpPr/>
          <p:nvPr/>
        </p:nvSpPr>
        <p:spPr>
          <a:xfrm>
            <a:off x="547650" y="1446907"/>
            <a:ext cx="3933825" cy="2494028"/>
          </a:xfrm>
          <a:prstGeom prst="rect">
            <a:avLst/>
          </a:prstGeom>
          <a:solidFill>
            <a:srgbClr val="F4F6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722" y="1623566"/>
            <a:ext cx="140877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0" cap="none" spc="161" normalizeH="0" baseline="0" noProof="0" dirty="0">
                <a:ln>
                  <a:noFill/>
                </a:ln>
                <a:solidFill>
                  <a:srgbClr val="173F5F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AEP IS READY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722" y="1900833"/>
            <a:ext cx="3172123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000" dirty="0">
                <a:latin typeface="Tenorite" panose="00000500000000000000" pitchFamily="2" charset="0"/>
              </a:rPr>
              <a:t>Approved MIS reports and workloads are available from AEP.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9722" y="2191048"/>
            <a:ext cx="3996236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Counts, totals and business rules match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722" y="2481263"/>
            <a:ext cx="3748683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Refresh and response targets are met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722" y="2771477"/>
            <a:ext cx="4274455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Duplicate data and processing are reduced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722" y="3100326"/>
            <a:ext cx="3718597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Users and downstream applications are successfully redirected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to AEP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45597" y="1453027"/>
            <a:ext cx="3933825" cy="2494028"/>
          </a:xfrm>
          <a:prstGeom prst="rect">
            <a:avLst/>
          </a:prstGeom>
          <a:solidFill>
            <a:srgbClr val="F4F6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64522" y="1623566"/>
            <a:ext cx="162247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0" i="0" u="none" strike="noStrike" kern="0" cap="none" spc="161" normalizeH="0" baseline="0" noProof="0" dirty="0">
                <a:ln>
                  <a:noFill/>
                </a:ln>
                <a:solidFill>
                  <a:srgbClr val="E27735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MIS CAN CLOSE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64522" y="1900833"/>
            <a:ext cx="3767353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History is moved or securely archived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64522" y="2191048"/>
            <a:ext cx="3423033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>
              <a:spcAft>
                <a:spcPts val="770"/>
              </a:spcAf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73F5F"/>
                </a:solidFill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000" dirty="0">
                <a:latin typeface="Tenorite" panose="00000500000000000000" pitchFamily="2" charset="0"/>
              </a:rPr>
              <a:t>Expected infrastructure and license savings are confirmed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64522" y="2512790"/>
            <a:ext cx="3057778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lvl="0">
              <a:spcAft>
                <a:spcPts val="770"/>
              </a:spcAf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</a:t>
            </a:r>
            <a:r>
              <a:rPr lang="en-US" sz="1000" dirty="0">
                <a:latin typeface="Tenorite" panose="00000500000000000000" pitchFamily="2" charset="0"/>
              </a:rPr>
              <a:t>Reports and services are working correctly in AEP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64522" y="2803005"/>
            <a:ext cx="397679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• Business and technical owners approve retirement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7688" y="4457179"/>
            <a:ext cx="8048625" cy="428625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580" y="4563517"/>
            <a:ext cx="19922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0" b="0" i="0" u="none" strike="noStrike" kern="0" cap="none" spc="136" normalizeH="0" baseline="0" noProof="0" dirty="0">
                <a:ln>
                  <a:noFill/>
                </a:ln>
                <a:solidFill>
                  <a:srgbClr val="E27735"/>
                </a:solidFill>
                <a:effectLst/>
                <a:uLnTx/>
                <a:uFillTx/>
                <a:latin typeface="Tenorite" panose="00000500000000000000" pitchFamily="2" charset="0"/>
                <a:ea typeface="Manrope" pitchFamily="34" charset="-122"/>
                <a:cs typeface="Manrope" pitchFamily="34" charset="-120"/>
              </a:rPr>
              <a:t>SHARED OWNERSHIP</a:t>
            </a:r>
            <a:endParaRPr kumimoji="0" lang="en-US" sz="9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14812" y="4534942"/>
            <a:ext cx="624530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3717B"/>
                </a:solidFill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AEP, MIS, business, infrastructure, security and source-system teams govern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14812" y="4698727"/>
            <a:ext cx="628999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3717B"/>
                </a:solidFill>
                <a:effectLst/>
                <a:uLnTx/>
                <a:uFillTx/>
                <a:latin typeface="Tenorite" panose="00000500000000000000" pitchFamily="2" charset="0"/>
                <a:ea typeface="Source Sans 3" pitchFamily="34" charset="-122"/>
                <a:cs typeface="Source Sans 3" pitchFamily="34" charset="-120"/>
              </a:rPr>
              <a:t>the work together. The migration charter records the final scope and measures.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50" y="1446907"/>
            <a:ext cx="3933825" cy="2886075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488" y="1446907"/>
            <a:ext cx="3933825" cy="2886075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88" y="4457179"/>
            <a:ext cx="8048625" cy="428625"/>
          </a:xfrm>
          <a:prstGeom prst="rect">
            <a:avLst/>
          </a:prstGeom>
        </p:spPr>
      </p:pic>
      <p:pic>
        <p:nvPicPr>
          <p:cNvPr id="29" name="Picture 28" descr="Logo&#10;&#10;Description automatically generated">
            <a:extLst>
              <a:ext uri="{FF2B5EF4-FFF2-40B4-BE49-F238E27FC236}">
                <a16:creationId xmlns:a16="http://schemas.microsoft.com/office/drawing/2014/main" id="{080841AC-FCF4-8893-922D-D01911F066A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323" t="26205" r="8720" b="26872"/>
          <a:stretch/>
        </p:blipFill>
        <p:spPr>
          <a:xfrm>
            <a:off x="8633689" y="42335"/>
            <a:ext cx="457200" cy="4488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>
            <a:extLst>
              <a:ext uri="{FF2B5EF4-FFF2-40B4-BE49-F238E27FC236}">
                <a16:creationId xmlns:a16="http://schemas.microsoft.com/office/drawing/2014/main" id="{B9B5890F-0A84-9419-388A-5FC0CF4673F8}"/>
              </a:ext>
            </a:extLst>
          </p:cNvPr>
          <p:cNvSpPr/>
          <p:nvPr/>
        </p:nvSpPr>
        <p:spPr>
          <a:xfrm>
            <a:off x="0" y="-15539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572057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Current OPEX / AMC Spend</a:t>
            </a:r>
            <a:endParaRPr lang="en-US" sz="2000" dirty="0">
              <a:solidFill>
                <a:schemeClr val="bg1"/>
              </a:solidFill>
              <a:latin typeface="Tenorite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2900" y="1036021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A6E7A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Recurring annual cost of platforms and licenses currently in operation</a:t>
            </a:r>
            <a:endParaRPr lang="en-US" sz="1200" dirty="0">
              <a:latin typeface="Tenorite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049838" y="294611"/>
            <a:ext cx="1900007" cy="651510"/>
          </a:xfrm>
          <a:prstGeom prst="roundRect">
            <a:avLst>
              <a:gd name="adj" fmla="val 8696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 sz="1350" dirty="0">
              <a:latin typeface="Tenorite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86998" y="363191"/>
            <a:ext cx="1720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13" dirty="0"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RECURRING EVERY YEAR</a:t>
            </a:r>
            <a:endParaRPr lang="en-US" sz="1000" dirty="0">
              <a:latin typeface="Tenorite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86998" y="500351"/>
            <a:ext cx="14998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b="1" dirty="0"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$79,174</a:t>
            </a:r>
            <a:endParaRPr lang="en-US" sz="2550" dirty="0">
              <a:latin typeface="Tenorite" panose="00000500000000000000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83210" y="1501648"/>
            <a:ext cx="5628640" cy="2920038"/>
          </a:xfrm>
          <a:prstGeom prst="roundRect">
            <a:avLst>
              <a:gd name="adj" fmla="val 2254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E0E4D8"/>
            </a:solidFill>
            <a:prstDash val="solid"/>
          </a:ln>
        </p:spPr>
        <p:txBody>
          <a:bodyPr/>
          <a:lstStyle/>
          <a:p>
            <a:endParaRPr lang="en-US" sz="1350" dirty="0">
              <a:latin typeface="Tenorite" panose="00000500000000000000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73862" y="1820545"/>
            <a:ext cx="25374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90" dirty="0">
                <a:solidFill>
                  <a:srgbClr val="0C2340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900" dirty="0">
              <a:latin typeface="Tenorite" panose="00000500000000000000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09270" y="2036572"/>
            <a:ext cx="2537460" cy="192024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64134" y="2036572"/>
            <a:ext cx="11658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FFFFFF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729994" y="2036572"/>
            <a:ext cx="3429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072894" y="2036572"/>
            <a:ext cx="4800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Each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552954" y="2036572"/>
            <a:ext cx="4251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09270" y="2228596"/>
            <a:ext cx="2537460" cy="42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">
            <a:solidFill>
              <a:srgbClr val="E0E4D8"/>
            </a:solidFill>
            <a:prstDash val="solid"/>
          </a:ln>
        </p:spPr>
        <p:txBody>
          <a:bodyPr/>
          <a:lstStyle/>
          <a:p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64134" y="2256028"/>
            <a:ext cx="115214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Oracle Golden-Gate</a:t>
            </a:r>
            <a:endParaRPr lang="en-US" sz="900" dirty="0">
              <a:latin typeface="Tenorite" panose="00000500000000000000" pitchFamily="2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729994" y="2228596"/>
            <a:ext cx="3429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8</a:t>
            </a:r>
            <a:endParaRPr lang="en-US" sz="825" b="1" dirty="0">
              <a:latin typeface="Tenorite" panose="00000500000000000000" pitchFamily="2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018030" y="2235454"/>
            <a:ext cx="4800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$998.40</a:t>
            </a:r>
            <a:endParaRPr lang="en-US" sz="825" b="1" dirty="0">
              <a:latin typeface="Tenorite" panose="00000500000000000000" pitchFamily="2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539238" y="2228596"/>
            <a:ext cx="4389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$7987.20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09270" y="2653792"/>
            <a:ext cx="2537460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E0E4D8"/>
            </a:solidFill>
            <a:prstDash val="solid"/>
          </a:ln>
        </p:spPr>
        <p:txBody>
          <a:bodyPr/>
          <a:lstStyle/>
          <a:p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64134" y="2681224"/>
            <a:ext cx="115214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Oracle Database Enterprise Edition</a:t>
            </a:r>
            <a:endParaRPr lang="en-US" sz="900" dirty="0">
              <a:latin typeface="Tenorite" panose="00000500000000000000" pitchFamily="2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729994" y="2653792"/>
            <a:ext cx="3429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8</a:t>
            </a:r>
            <a:endParaRPr lang="en-US" sz="825" b="1" dirty="0">
              <a:latin typeface="Tenorite" panose="00000500000000000000" pitchFamily="2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2038604" y="2646934"/>
            <a:ext cx="4800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$1398.45</a:t>
            </a:r>
            <a:endParaRPr lang="en-US" sz="825" b="1" dirty="0">
              <a:latin typeface="Tenorite" panose="00000500000000000000" pitchFamily="2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539238" y="2641323"/>
            <a:ext cx="483489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$11187.60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09270" y="3477022"/>
            <a:ext cx="2537460" cy="23317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64134" y="3483880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Subtotal (USD)</a:t>
            </a:r>
            <a:endParaRPr lang="en-US" sz="1050" dirty="0">
              <a:latin typeface="Tenorite" panose="00000500000000000000" pitchFamily="2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061871" y="3483880"/>
            <a:ext cx="960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FFFFFF"/>
                </a:solidFill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$79,174</a:t>
            </a:r>
            <a:endParaRPr lang="en-US" sz="1050" dirty="0">
              <a:latin typeface="Tenorite" panose="00000500000000000000" pitchFamily="2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1B63C3C-1210-3BA2-3E79-84E304077D4A}"/>
              </a:ext>
            </a:extLst>
          </p:cNvPr>
          <p:cNvCxnSpPr/>
          <p:nvPr/>
        </p:nvCxnSpPr>
        <p:spPr>
          <a:xfrm>
            <a:off x="0" y="4819590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0575E5"/>
                </a:gs>
                <a:gs pos="100000">
                  <a:srgbClr val="00F26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Subtitle 2">
            <a:extLst>
              <a:ext uri="{FF2B5EF4-FFF2-40B4-BE49-F238E27FC236}">
                <a16:creationId xmlns:a16="http://schemas.microsoft.com/office/drawing/2014/main" id="{089CB915-0098-C556-3158-9BCD0F9CA464}"/>
              </a:ext>
            </a:extLst>
          </p:cNvPr>
          <p:cNvSpPr txBox="1">
            <a:spLocks/>
          </p:cNvSpPr>
          <p:nvPr/>
        </p:nvSpPr>
        <p:spPr>
          <a:xfrm>
            <a:off x="4627143" y="4839800"/>
            <a:ext cx="3154766" cy="2631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MY" sz="800" dirty="0">
                <a:solidFill>
                  <a:srgbClr val="222222"/>
                </a:solidFill>
                <a:latin typeface="Tenorite" panose="00000500000000000000" pitchFamily="2" charset="0"/>
              </a:rPr>
              <a:t>Driving </a:t>
            </a:r>
            <a:r>
              <a:rPr lang="en-MY" sz="800" b="1" dirty="0">
                <a:solidFill>
                  <a:srgbClr val="222222"/>
                </a:solidFill>
                <a:latin typeface="Tenorite" panose="00000500000000000000" pitchFamily="2" charset="0"/>
              </a:rPr>
              <a:t>Success </a:t>
            </a:r>
            <a:r>
              <a:rPr lang="en-MY" sz="800" dirty="0">
                <a:solidFill>
                  <a:srgbClr val="222222"/>
                </a:solidFill>
                <a:latin typeface="Tenorite" panose="00000500000000000000" pitchFamily="2" charset="0"/>
              </a:rPr>
              <a:t>through </a:t>
            </a:r>
            <a:r>
              <a:rPr lang="en-MY" sz="800" b="1" dirty="0">
                <a:solidFill>
                  <a:srgbClr val="222222"/>
                </a:solidFill>
                <a:latin typeface="Tenorite" panose="00000500000000000000" pitchFamily="2" charset="0"/>
              </a:rPr>
              <a:t>TEAMs</a:t>
            </a:r>
            <a:br>
              <a:rPr lang="en-US" sz="800" dirty="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</a:br>
            <a:r>
              <a:rPr lang="en-US" sz="600" dirty="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(Transformation, Engagement &amp; Efficiency, Agility, Modernization)</a:t>
            </a:r>
            <a:endParaRPr lang="en-US" sz="600" dirty="0">
              <a:solidFill>
                <a:srgbClr val="070952"/>
              </a:solidFill>
              <a:latin typeface="Tenorite" panose="00000500000000000000" pitchFamily="2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9BB06333-D7A9-784B-8E4D-6FD90EC06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170" y="4817069"/>
            <a:ext cx="988246" cy="308610"/>
          </a:xfrm>
          <a:prstGeom prst="rect">
            <a:avLst/>
          </a:prstGeom>
        </p:spPr>
      </p:pic>
      <p:sp>
        <p:nvSpPr>
          <p:cNvPr id="63" name="Subtitle 2">
            <a:extLst>
              <a:ext uri="{FF2B5EF4-FFF2-40B4-BE49-F238E27FC236}">
                <a16:creationId xmlns:a16="http://schemas.microsoft.com/office/drawing/2014/main" id="{D2719DA4-50D4-289B-A8D2-EAD1FB619BC7}"/>
              </a:ext>
            </a:extLst>
          </p:cNvPr>
          <p:cNvSpPr txBox="1">
            <a:spLocks/>
          </p:cNvSpPr>
          <p:nvPr/>
        </p:nvSpPr>
        <p:spPr>
          <a:xfrm>
            <a:off x="2185838" y="4825950"/>
            <a:ext cx="2286000" cy="2908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US" sz="800" b="1" dirty="0">
                <a:solidFill>
                  <a:srgbClr val="222222"/>
                </a:solidFill>
                <a:latin typeface="Tenorite" panose="00000500000000000000" pitchFamily="2" charset="0"/>
              </a:rPr>
              <a:t>Deliver Trusted </a:t>
            </a:r>
            <a:r>
              <a:rPr lang="en-US" sz="800" dirty="0">
                <a:solidFill>
                  <a:srgbClr val="222222"/>
                </a:solidFill>
                <a:latin typeface="Tenorite" panose="00000500000000000000" pitchFamily="2" charset="0"/>
              </a:rPr>
              <a:t>&amp; </a:t>
            </a:r>
            <a:r>
              <a:rPr lang="en-US" sz="800" b="1" dirty="0">
                <a:solidFill>
                  <a:srgbClr val="222222"/>
                </a:solidFill>
                <a:latin typeface="Tenorite" panose="00000500000000000000" pitchFamily="2" charset="0"/>
              </a:rPr>
              <a:t>Innovative</a:t>
            </a:r>
            <a:br>
              <a:rPr lang="en-US" sz="800" b="1" dirty="0">
                <a:solidFill>
                  <a:srgbClr val="222222"/>
                </a:solidFill>
                <a:latin typeface="Tenorite" panose="00000500000000000000" pitchFamily="2" charset="0"/>
              </a:rPr>
            </a:br>
            <a:r>
              <a:rPr lang="en-US" sz="800" b="1" dirty="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Digital Services</a:t>
            </a:r>
            <a:r>
              <a:rPr lang="en-US" sz="800" dirty="0">
                <a:solidFill>
                  <a:srgbClr val="222222"/>
                </a:solidFill>
                <a:latin typeface="Tenorite" panose="00000500000000000000" pitchFamily="2" charset="0"/>
              </a:rPr>
              <a:t> for </a:t>
            </a:r>
            <a:r>
              <a:rPr lang="en-US" sz="800" b="1" dirty="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Everyone.</a:t>
            </a:r>
            <a:endParaRPr lang="en-US" sz="800" dirty="0"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latin typeface="Tenorite" panose="00000500000000000000" pitchFamily="2" charset="0"/>
            </a:endParaRPr>
          </a:p>
        </p:txBody>
      </p:sp>
      <p:sp>
        <p:nvSpPr>
          <p:cNvPr id="64" name="Subtitle 2">
            <a:extLst>
              <a:ext uri="{FF2B5EF4-FFF2-40B4-BE49-F238E27FC236}">
                <a16:creationId xmlns:a16="http://schemas.microsoft.com/office/drawing/2014/main" id="{0124589C-B439-DF95-BC95-ABE0BBEFEDDF}"/>
              </a:ext>
            </a:extLst>
          </p:cNvPr>
          <p:cNvSpPr txBox="1">
            <a:spLocks/>
          </p:cNvSpPr>
          <p:nvPr/>
        </p:nvSpPr>
        <p:spPr>
          <a:xfrm>
            <a:off x="8293" y="4881349"/>
            <a:ext cx="2286000" cy="1800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US" sz="800" b="1" dirty="0">
                <a:solidFill>
                  <a:srgbClr val="222222"/>
                </a:solidFill>
                <a:latin typeface="Tenorite" panose="00000500000000000000" pitchFamily="2" charset="0"/>
              </a:rPr>
              <a:t>Information Technology</a:t>
            </a:r>
            <a:endParaRPr lang="en-US" sz="800" dirty="0"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latin typeface="Tenorite" panose="00000500000000000000" pitchFamily="2" charset="0"/>
            </a:endParaRPr>
          </a:p>
        </p:txBody>
      </p:sp>
      <p:sp>
        <p:nvSpPr>
          <p:cNvPr id="2" name="Shape 38">
            <a:extLst>
              <a:ext uri="{FF2B5EF4-FFF2-40B4-BE49-F238E27FC236}">
                <a16:creationId xmlns:a16="http://schemas.microsoft.com/office/drawing/2014/main" id="{8948A814-3663-C873-C982-F1F9113883E3}"/>
              </a:ext>
            </a:extLst>
          </p:cNvPr>
          <p:cNvSpPr/>
          <p:nvPr/>
        </p:nvSpPr>
        <p:spPr>
          <a:xfrm>
            <a:off x="3156458" y="2036572"/>
            <a:ext cx="2537460" cy="192024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66" name="Text 39">
            <a:extLst>
              <a:ext uri="{FF2B5EF4-FFF2-40B4-BE49-F238E27FC236}">
                <a16:creationId xmlns:a16="http://schemas.microsoft.com/office/drawing/2014/main" id="{B458DD47-59D8-C402-4EAF-97A44EC989A7}"/>
              </a:ext>
            </a:extLst>
          </p:cNvPr>
          <p:cNvSpPr/>
          <p:nvPr/>
        </p:nvSpPr>
        <p:spPr>
          <a:xfrm>
            <a:off x="3211322" y="2036572"/>
            <a:ext cx="11658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FFFFFF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67" name="Text 40">
            <a:extLst>
              <a:ext uri="{FF2B5EF4-FFF2-40B4-BE49-F238E27FC236}">
                <a16:creationId xmlns:a16="http://schemas.microsoft.com/office/drawing/2014/main" id="{DE18AAE7-1B11-0102-0DD1-D9ED7ED85978}"/>
              </a:ext>
            </a:extLst>
          </p:cNvPr>
          <p:cNvSpPr/>
          <p:nvPr/>
        </p:nvSpPr>
        <p:spPr>
          <a:xfrm>
            <a:off x="4377182" y="2036572"/>
            <a:ext cx="3429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68" name="Text 41">
            <a:extLst>
              <a:ext uri="{FF2B5EF4-FFF2-40B4-BE49-F238E27FC236}">
                <a16:creationId xmlns:a16="http://schemas.microsoft.com/office/drawing/2014/main" id="{014150C0-85E4-2268-80B7-0BD68AC5D8B5}"/>
              </a:ext>
            </a:extLst>
          </p:cNvPr>
          <p:cNvSpPr/>
          <p:nvPr/>
        </p:nvSpPr>
        <p:spPr>
          <a:xfrm>
            <a:off x="4720082" y="2036572"/>
            <a:ext cx="4800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Each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69" name="Text 42">
            <a:extLst>
              <a:ext uri="{FF2B5EF4-FFF2-40B4-BE49-F238E27FC236}">
                <a16:creationId xmlns:a16="http://schemas.microsoft.com/office/drawing/2014/main" id="{6DC3E9FC-BA99-068F-4A75-9BB025DC92B1}"/>
              </a:ext>
            </a:extLst>
          </p:cNvPr>
          <p:cNvSpPr/>
          <p:nvPr/>
        </p:nvSpPr>
        <p:spPr>
          <a:xfrm>
            <a:off x="5200142" y="2036572"/>
            <a:ext cx="4251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75" name="Shape 48">
            <a:extLst>
              <a:ext uri="{FF2B5EF4-FFF2-40B4-BE49-F238E27FC236}">
                <a16:creationId xmlns:a16="http://schemas.microsoft.com/office/drawing/2014/main" id="{1E33F8FB-D4F3-3069-ABCA-E87138219B68}"/>
              </a:ext>
            </a:extLst>
          </p:cNvPr>
          <p:cNvSpPr/>
          <p:nvPr/>
        </p:nvSpPr>
        <p:spPr>
          <a:xfrm>
            <a:off x="3150195" y="2221645"/>
            <a:ext cx="2537460" cy="4251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7620">
            <a:solidFill>
              <a:srgbClr val="E0E4D8"/>
            </a:solidFill>
            <a:prstDash val="solid"/>
          </a:ln>
        </p:spPr>
        <p:txBody>
          <a:bodyPr/>
          <a:lstStyle/>
          <a:p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76" name="Text 49">
            <a:extLst>
              <a:ext uri="{FF2B5EF4-FFF2-40B4-BE49-F238E27FC236}">
                <a16:creationId xmlns:a16="http://schemas.microsoft.com/office/drawing/2014/main" id="{24E585D2-B897-E60B-B87F-7FD1EABFD9C9}"/>
              </a:ext>
            </a:extLst>
          </p:cNvPr>
          <p:cNvSpPr/>
          <p:nvPr/>
        </p:nvSpPr>
        <p:spPr>
          <a:xfrm>
            <a:off x="3211322" y="2249077"/>
            <a:ext cx="115214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Dorado Storage [one time]</a:t>
            </a:r>
            <a:endParaRPr lang="en-US" sz="900" dirty="0">
              <a:latin typeface="Tenorite" panose="00000500000000000000" pitchFamily="2" charset="0"/>
            </a:endParaRPr>
          </a:p>
        </p:txBody>
      </p:sp>
      <p:sp>
        <p:nvSpPr>
          <p:cNvPr id="77" name="Text 50">
            <a:extLst>
              <a:ext uri="{FF2B5EF4-FFF2-40B4-BE49-F238E27FC236}">
                <a16:creationId xmlns:a16="http://schemas.microsoft.com/office/drawing/2014/main" id="{163833F8-2668-326B-F5C1-0A248B16E63E}"/>
              </a:ext>
            </a:extLst>
          </p:cNvPr>
          <p:cNvSpPr/>
          <p:nvPr/>
        </p:nvSpPr>
        <p:spPr>
          <a:xfrm>
            <a:off x="4377182" y="2221645"/>
            <a:ext cx="3429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25" b="1" dirty="0">
              <a:latin typeface="Tenorite" panose="00000500000000000000" pitchFamily="2" charset="0"/>
            </a:endParaRPr>
          </a:p>
        </p:txBody>
      </p:sp>
      <p:sp>
        <p:nvSpPr>
          <p:cNvPr id="78" name="Text 51">
            <a:extLst>
              <a:ext uri="{FF2B5EF4-FFF2-40B4-BE49-F238E27FC236}">
                <a16:creationId xmlns:a16="http://schemas.microsoft.com/office/drawing/2014/main" id="{A7ADB2C9-91A5-0054-EA29-CC329C5F69A8}"/>
              </a:ext>
            </a:extLst>
          </p:cNvPr>
          <p:cNvSpPr/>
          <p:nvPr/>
        </p:nvSpPr>
        <p:spPr>
          <a:xfrm>
            <a:off x="4685792" y="2214787"/>
            <a:ext cx="4800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$1650</a:t>
            </a:r>
            <a:endParaRPr lang="en-US" sz="825" b="1" dirty="0">
              <a:latin typeface="Tenorite" panose="00000500000000000000" pitchFamily="2" charset="0"/>
            </a:endParaRPr>
          </a:p>
        </p:txBody>
      </p:sp>
      <p:sp>
        <p:nvSpPr>
          <p:cNvPr id="79" name="Text 52">
            <a:extLst>
              <a:ext uri="{FF2B5EF4-FFF2-40B4-BE49-F238E27FC236}">
                <a16:creationId xmlns:a16="http://schemas.microsoft.com/office/drawing/2014/main" id="{CD92C33C-5690-D376-64C5-5F8059882ECB}"/>
              </a:ext>
            </a:extLst>
          </p:cNvPr>
          <p:cNvSpPr/>
          <p:nvPr/>
        </p:nvSpPr>
        <p:spPr>
          <a:xfrm>
            <a:off x="5186426" y="2209176"/>
            <a:ext cx="483489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$49500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80" name="Shape 53">
            <a:extLst>
              <a:ext uri="{FF2B5EF4-FFF2-40B4-BE49-F238E27FC236}">
                <a16:creationId xmlns:a16="http://schemas.microsoft.com/office/drawing/2014/main" id="{4E56AC38-1A2C-B6C8-224B-E3E671C783EB}"/>
              </a:ext>
            </a:extLst>
          </p:cNvPr>
          <p:cNvSpPr/>
          <p:nvPr/>
        </p:nvSpPr>
        <p:spPr>
          <a:xfrm>
            <a:off x="3156458" y="3481488"/>
            <a:ext cx="2537460" cy="23317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81" name="Text 54">
            <a:extLst>
              <a:ext uri="{FF2B5EF4-FFF2-40B4-BE49-F238E27FC236}">
                <a16:creationId xmlns:a16="http://schemas.microsoft.com/office/drawing/2014/main" id="{F067D982-8F8F-5ED3-3540-2601ABCB76C3}"/>
              </a:ext>
            </a:extLst>
          </p:cNvPr>
          <p:cNvSpPr/>
          <p:nvPr/>
        </p:nvSpPr>
        <p:spPr>
          <a:xfrm>
            <a:off x="3211322" y="3481488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Subtotal (USD)</a:t>
            </a:r>
            <a:endParaRPr lang="en-US" sz="1050" dirty="0">
              <a:latin typeface="Tenorite" panose="00000500000000000000" pitchFamily="2" charset="0"/>
            </a:endParaRPr>
          </a:p>
        </p:txBody>
      </p:sp>
      <p:sp>
        <p:nvSpPr>
          <p:cNvPr id="82" name="Text 55">
            <a:extLst>
              <a:ext uri="{FF2B5EF4-FFF2-40B4-BE49-F238E27FC236}">
                <a16:creationId xmlns:a16="http://schemas.microsoft.com/office/drawing/2014/main" id="{52F280C8-A533-BD3E-ED64-956A8C687AF1}"/>
              </a:ext>
            </a:extLst>
          </p:cNvPr>
          <p:cNvSpPr/>
          <p:nvPr/>
        </p:nvSpPr>
        <p:spPr>
          <a:xfrm>
            <a:off x="4665218" y="3481488"/>
            <a:ext cx="960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FFFFFF"/>
                </a:solidFill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$83,500.60</a:t>
            </a:r>
            <a:endParaRPr lang="en-US" sz="1050" dirty="0">
              <a:latin typeface="Tenorite" panose="00000500000000000000" pitchFamily="2" charset="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BA1C237-81E8-38EC-88DC-6E52D6EAB258}"/>
              </a:ext>
            </a:extLst>
          </p:cNvPr>
          <p:cNvSpPr/>
          <p:nvPr/>
        </p:nvSpPr>
        <p:spPr>
          <a:xfrm>
            <a:off x="6036818" y="2173986"/>
            <a:ext cx="2929684" cy="1637569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 dirty="0">
              <a:latin typeface="Tenorite" panose="00000500000000000000" pitchFamily="2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3D5B0D5-1874-06A9-37EF-3D557FCE3115}"/>
              </a:ext>
            </a:extLst>
          </p:cNvPr>
          <p:cNvSpPr/>
          <p:nvPr/>
        </p:nvSpPr>
        <p:spPr>
          <a:xfrm>
            <a:off x="6303610" y="2311146"/>
            <a:ext cx="2604164" cy="239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ADCFC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Other factors contributing to the cost</a:t>
            </a:r>
            <a:endParaRPr lang="en-US" sz="900" dirty="0">
              <a:latin typeface="Tenorite" panose="00000500000000000000" pitchFamily="2" charset="0"/>
            </a:endParaRPr>
          </a:p>
        </p:txBody>
      </p:sp>
      <p:sp>
        <p:nvSpPr>
          <p:cNvPr id="20" name="Text 49">
            <a:extLst>
              <a:ext uri="{FF2B5EF4-FFF2-40B4-BE49-F238E27FC236}">
                <a16:creationId xmlns:a16="http://schemas.microsoft.com/office/drawing/2014/main" id="{FB860F5A-4C1D-5D9C-AFDA-DBE6FFD572D1}"/>
              </a:ext>
            </a:extLst>
          </p:cNvPr>
          <p:cNvSpPr/>
          <p:nvPr/>
        </p:nvSpPr>
        <p:spPr>
          <a:xfrm>
            <a:off x="6335776" y="3185776"/>
            <a:ext cx="2351024" cy="59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Energy &amp; Power (data center)</a:t>
            </a:r>
            <a:endParaRPr lang="en-US" sz="900" dirty="0">
              <a:solidFill>
                <a:schemeClr val="bg1"/>
              </a:solidFill>
              <a:latin typeface="Tenorite" panose="00000500000000000000" pitchFamily="2" charset="0"/>
              <a:ea typeface="Calibri" charset="0"/>
              <a:cs typeface="Calibri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Rack &amp; Hardware Maintenance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Backup maintenance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Tenorite" panose="00000500000000000000" pitchFamily="2" charset="0"/>
              </a:rPr>
              <a:t>Oracle Premier Support (hardware and OS)</a:t>
            </a:r>
            <a:endParaRPr lang="en-US" sz="900" dirty="0">
              <a:solidFill>
                <a:schemeClr val="bg1"/>
              </a:solidFill>
              <a:latin typeface="Tenorite" panose="00000500000000000000" pitchFamily="2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bg1"/>
              </a:solidFill>
              <a:latin typeface="Tenorite" panose="00000500000000000000" pitchFamily="2" charset="0"/>
              <a:ea typeface="Calibri" charset="0"/>
              <a:cs typeface="Calibri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25" dirty="0">
              <a:solidFill>
                <a:schemeClr val="bg1"/>
              </a:solidFill>
              <a:latin typeface="Tenorite" panose="00000500000000000000" pitchFamily="2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25" dirty="0">
              <a:solidFill>
                <a:schemeClr val="bg1"/>
              </a:solidFill>
              <a:latin typeface="Tenorite" panose="00000500000000000000" pitchFamily="2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25" dirty="0">
              <a:solidFill>
                <a:schemeClr val="bg1"/>
              </a:solidFill>
              <a:latin typeface="Tenorite" panose="00000500000000000000" pitchFamily="2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25" dirty="0">
              <a:solidFill>
                <a:schemeClr val="bg1"/>
              </a:solidFill>
              <a:latin typeface="Tenorite" panose="00000500000000000000" pitchFamily="2" charset="0"/>
              <a:ea typeface="Calibri" pitchFamily="34" charset="-122"/>
              <a:cs typeface="Calibri" pitchFamily="34" charset="-120"/>
            </a:endParaRPr>
          </a:p>
          <a:p>
            <a:endParaRPr lang="en-US" sz="825" dirty="0">
              <a:solidFill>
                <a:schemeClr val="bg1"/>
              </a:solidFill>
              <a:latin typeface="Tenorite" panose="00000500000000000000" pitchFamily="2" charset="0"/>
              <a:ea typeface="Calibri" pitchFamily="34" charset="-122"/>
              <a:cs typeface="Calibri" pitchFamily="34" charset="-120"/>
            </a:endParaRPr>
          </a:p>
          <a:p>
            <a:endParaRPr lang="en-US" sz="825" dirty="0">
              <a:solidFill>
                <a:schemeClr val="bg1"/>
              </a:solidFill>
              <a:latin typeface="Tenorite" panose="00000500000000000000" pitchFamily="2" charset="0"/>
              <a:ea typeface="Calibri" pitchFamily="34" charset="-122"/>
              <a:cs typeface="Calibri" pitchFamily="34" charset="-120"/>
            </a:endParaRPr>
          </a:p>
          <a:p>
            <a:endParaRPr lang="en-US" sz="825" dirty="0">
              <a:solidFill>
                <a:schemeClr val="bg1"/>
              </a:solidFill>
              <a:latin typeface="Tenorite" panose="00000500000000000000" pitchFamily="2" charset="0"/>
            </a:endParaRPr>
          </a:p>
        </p:txBody>
      </p:sp>
      <p:sp>
        <p:nvSpPr>
          <p:cNvPr id="22" name="Shape 43">
            <a:extLst>
              <a:ext uri="{FF2B5EF4-FFF2-40B4-BE49-F238E27FC236}">
                <a16:creationId xmlns:a16="http://schemas.microsoft.com/office/drawing/2014/main" id="{058C3EB6-9CE6-8620-43AF-96366F424A48}"/>
              </a:ext>
            </a:extLst>
          </p:cNvPr>
          <p:cNvSpPr/>
          <p:nvPr/>
        </p:nvSpPr>
        <p:spPr>
          <a:xfrm>
            <a:off x="509270" y="3050565"/>
            <a:ext cx="2537460" cy="425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">
            <a:solidFill>
              <a:srgbClr val="E0E4D8"/>
            </a:solidFill>
            <a:prstDash val="solid"/>
          </a:ln>
        </p:spPr>
        <p:txBody>
          <a:bodyPr/>
          <a:lstStyle/>
          <a:p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24" name="Text 44">
            <a:extLst>
              <a:ext uri="{FF2B5EF4-FFF2-40B4-BE49-F238E27FC236}">
                <a16:creationId xmlns:a16="http://schemas.microsoft.com/office/drawing/2014/main" id="{4924AFA3-F2A8-8D0D-9066-ABDEABFD755E}"/>
              </a:ext>
            </a:extLst>
          </p:cNvPr>
          <p:cNvSpPr/>
          <p:nvPr/>
        </p:nvSpPr>
        <p:spPr>
          <a:xfrm>
            <a:off x="557871" y="3077997"/>
            <a:ext cx="115214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B1F2E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Dedicated Headcount  ,2 FTE  (2 × $2,500/</a:t>
            </a:r>
            <a:r>
              <a:rPr lang="en-US" sz="900" dirty="0" err="1">
                <a:solidFill>
                  <a:srgbClr val="1B1F2E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mo</a:t>
            </a:r>
            <a:r>
              <a:rPr lang="en-US" sz="900" dirty="0">
                <a:solidFill>
                  <a:srgbClr val="1B1F2E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 × 12)</a:t>
            </a:r>
            <a:endParaRPr lang="en-US" sz="900" dirty="0">
              <a:latin typeface="Tenorite" panose="00000500000000000000" pitchFamily="2" charset="0"/>
              <a:ea typeface="Calibri" charset="0"/>
              <a:cs typeface="Calibri" charset="0"/>
            </a:endParaRPr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6A8FD2BB-5CA6-F22C-3C48-219F244247CD}"/>
              </a:ext>
            </a:extLst>
          </p:cNvPr>
          <p:cNvSpPr/>
          <p:nvPr/>
        </p:nvSpPr>
        <p:spPr>
          <a:xfrm>
            <a:off x="1729994" y="3050565"/>
            <a:ext cx="3429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2</a:t>
            </a:r>
            <a:endParaRPr lang="en-US" sz="825" b="1" dirty="0">
              <a:latin typeface="Tenorite" panose="00000500000000000000" pitchFamily="2" charset="0"/>
            </a:endParaRPr>
          </a:p>
        </p:txBody>
      </p:sp>
      <p:sp>
        <p:nvSpPr>
          <p:cNvPr id="28" name="Text 46">
            <a:extLst>
              <a:ext uri="{FF2B5EF4-FFF2-40B4-BE49-F238E27FC236}">
                <a16:creationId xmlns:a16="http://schemas.microsoft.com/office/drawing/2014/main" id="{414FDC3A-9D58-AF9C-9D6A-B05A66D5526E}"/>
              </a:ext>
            </a:extLst>
          </p:cNvPr>
          <p:cNvSpPr/>
          <p:nvPr/>
        </p:nvSpPr>
        <p:spPr>
          <a:xfrm>
            <a:off x="2018030" y="3057423"/>
            <a:ext cx="4800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$2500*12</a:t>
            </a:r>
            <a:endParaRPr lang="en-US" sz="825" b="1" dirty="0">
              <a:latin typeface="Tenorite" panose="00000500000000000000" pitchFamily="2" charset="0"/>
            </a:endParaRPr>
          </a:p>
        </p:txBody>
      </p:sp>
      <p:sp>
        <p:nvSpPr>
          <p:cNvPr id="30" name="Text 47">
            <a:extLst>
              <a:ext uri="{FF2B5EF4-FFF2-40B4-BE49-F238E27FC236}">
                <a16:creationId xmlns:a16="http://schemas.microsoft.com/office/drawing/2014/main" id="{0C481CDB-A9AF-0715-F8B1-73691D5AEE9D}"/>
              </a:ext>
            </a:extLst>
          </p:cNvPr>
          <p:cNvSpPr/>
          <p:nvPr/>
        </p:nvSpPr>
        <p:spPr>
          <a:xfrm>
            <a:off x="2539238" y="3050565"/>
            <a:ext cx="4389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$60000</a:t>
            </a:r>
            <a:endParaRPr lang="en-US" sz="825" dirty="0">
              <a:latin typeface="Tenorite" panose="00000500000000000000" pitchFamily="2" charset="0"/>
            </a:endParaRPr>
          </a:p>
        </p:txBody>
      </p:sp>
      <p:sp>
        <p:nvSpPr>
          <p:cNvPr id="32" name="Text 36">
            <a:extLst>
              <a:ext uri="{FF2B5EF4-FFF2-40B4-BE49-F238E27FC236}">
                <a16:creationId xmlns:a16="http://schemas.microsoft.com/office/drawing/2014/main" id="{754398FF-B5C4-6F28-B2F0-EF4BC4F7E16B}"/>
              </a:ext>
            </a:extLst>
          </p:cNvPr>
          <p:cNvSpPr/>
          <p:nvPr/>
        </p:nvSpPr>
        <p:spPr>
          <a:xfrm>
            <a:off x="3156458" y="1792113"/>
            <a:ext cx="25374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00" dirty="0">
                <a:solidFill>
                  <a:srgbClr val="1E2761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ONE-TIME CAPEX (CAPITALISED)</a:t>
            </a:r>
            <a:endParaRPr lang="en-US" sz="900" dirty="0">
              <a:latin typeface="Tenorite" panose="00000500000000000000" pitchFamily="2" charset="0"/>
            </a:endParaRPr>
          </a:p>
        </p:txBody>
      </p:sp>
      <p:sp>
        <p:nvSpPr>
          <p:cNvPr id="34" name="Shape 48">
            <a:extLst>
              <a:ext uri="{FF2B5EF4-FFF2-40B4-BE49-F238E27FC236}">
                <a16:creationId xmlns:a16="http://schemas.microsoft.com/office/drawing/2014/main" id="{8CD4A870-782E-AF5D-E732-E322BE2BC7A4}"/>
              </a:ext>
            </a:extLst>
          </p:cNvPr>
          <p:cNvSpPr/>
          <p:nvPr/>
        </p:nvSpPr>
        <p:spPr>
          <a:xfrm>
            <a:off x="3147907" y="2647891"/>
            <a:ext cx="2537460" cy="425196"/>
          </a:xfrm>
          <a:prstGeom prst="rect">
            <a:avLst/>
          </a:prstGeom>
          <a:solidFill>
            <a:srgbClr val="FFFFFF"/>
          </a:solidFill>
          <a:ln w="7620">
            <a:solidFill>
              <a:srgbClr val="E0E4D8"/>
            </a:solidFill>
            <a:prstDash val="solid"/>
          </a:ln>
        </p:spPr>
        <p:txBody>
          <a:bodyPr/>
          <a:lstStyle/>
          <a:p>
            <a:endParaRPr lang="en-US" sz="825">
              <a:latin typeface="Tenorite" panose="00000500000000000000" pitchFamily="2" charset="0"/>
            </a:endParaRPr>
          </a:p>
        </p:txBody>
      </p:sp>
      <p:sp>
        <p:nvSpPr>
          <p:cNvPr id="36" name="Text 49">
            <a:extLst>
              <a:ext uri="{FF2B5EF4-FFF2-40B4-BE49-F238E27FC236}">
                <a16:creationId xmlns:a16="http://schemas.microsoft.com/office/drawing/2014/main" id="{AFA48061-2714-111D-0CD0-8EE5706E724E}"/>
              </a:ext>
            </a:extLst>
          </p:cNvPr>
          <p:cNvSpPr/>
          <p:nvPr/>
        </p:nvSpPr>
        <p:spPr>
          <a:xfrm>
            <a:off x="3202771" y="2675323"/>
            <a:ext cx="115214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Tenorite" panose="00000500000000000000" pitchFamily="2" charset="0"/>
              </a:rPr>
              <a:t>SPARC T5 servers –book value is zero</a:t>
            </a:r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A4B82D78-A78F-F72B-292D-B309D46483CB}"/>
              </a:ext>
            </a:extLst>
          </p:cNvPr>
          <p:cNvSpPr/>
          <p:nvPr/>
        </p:nvSpPr>
        <p:spPr>
          <a:xfrm>
            <a:off x="4368631" y="2647891"/>
            <a:ext cx="3429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2</a:t>
            </a:r>
            <a:endParaRPr lang="en-US" sz="825" b="1" dirty="0">
              <a:latin typeface="Tenorite" panose="00000500000000000000" pitchFamily="2" charset="0"/>
            </a:endParaRPr>
          </a:p>
        </p:txBody>
      </p:sp>
      <p:sp>
        <p:nvSpPr>
          <p:cNvPr id="83" name="Text 51">
            <a:extLst>
              <a:ext uri="{FF2B5EF4-FFF2-40B4-BE49-F238E27FC236}">
                <a16:creationId xmlns:a16="http://schemas.microsoft.com/office/drawing/2014/main" id="{750D654E-5473-CBF2-2DBD-9D49CBEBABF8}"/>
              </a:ext>
            </a:extLst>
          </p:cNvPr>
          <p:cNvSpPr/>
          <p:nvPr/>
        </p:nvSpPr>
        <p:spPr>
          <a:xfrm>
            <a:off x="4677241" y="2641033"/>
            <a:ext cx="4800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$17000</a:t>
            </a:r>
            <a:endParaRPr lang="en-US" sz="825" b="1" dirty="0">
              <a:latin typeface="Tenorite" panose="00000500000000000000" pitchFamily="2" charset="0"/>
            </a:endParaRPr>
          </a:p>
        </p:txBody>
      </p:sp>
      <p:sp>
        <p:nvSpPr>
          <p:cNvPr id="85" name="Text 52">
            <a:extLst>
              <a:ext uri="{FF2B5EF4-FFF2-40B4-BE49-F238E27FC236}">
                <a16:creationId xmlns:a16="http://schemas.microsoft.com/office/drawing/2014/main" id="{969BBE39-1957-C2A0-4D69-0AC115EEB285}"/>
              </a:ext>
            </a:extLst>
          </p:cNvPr>
          <p:cNvSpPr/>
          <p:nvPr/>
        </p:nvSpPr>
        <p:spPr>
          <a:xfrm>
            <a:off x="5177875" y="2635422"/>
            <a:ext cx="483489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E2D3D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$34000</a:t>
            </a:r>
            <a:endParaRPr lang="en-US" sz="825" dirty="0">
              <a:latin typeface="Tenorite" panose="000005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93518"/>
            <a:ext cx="75438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5-Year Net Savings</a:t>
            </a:r>
          </a:p>
        </p:txBody>
      </p:sp>
      <p:sp>
        <p:nvSpPr>
          <p:cNvPr id="3" name="Text 1"/>
          <p:cNvSpPr/>
          <p:nvPr/>
        </p:nvSpPr>
        <p:spPr>
          <a:xfrm>
            <a:off x="342900" y="450134"/>
            <a:ext cx="84353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i="1" dirty="0">
                <a:solidFill>
                  <a:srgbClr val="5B6B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Annual run-rate savings, one-time transition cost, and net savings over a 5-year horizon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2900" y="702971"/>
            <a:ext cx="4114800" cy="910088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93776" y="840132"/>
            <a:ext cx="329184" cy="329184"/>
          </a:xfrm>
          <a:prstGeom prst="ellipse">
            <a:avLst/>
          </a:prstGeom>
          <a:solidFill>
            <a:srgbClr val="FBF3E3"/>
          </a:solidFill>
          <a:ln/>
        </p:spPr>
        <p:txBody>
          <a:bodyPr/>
          <a:lstStyle/>
          <a:p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icon_to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" y="915570"/>
            <a:ext cx="185166" cy="1851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256" y="812700"/>
            <a:ext cx="25374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88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Annual Run-Rate Savings</a:t>
            </a:r>
            <a:endParaRPr lang="en-US" sz="10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708910" y="785268"/>
            <a:ext cx="161163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25" b="1" dirty="0">
                <a:solidFill>
                  <a:srgbClr val="D99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$79,174 / yr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1204201"/>
            <a:ext cx="37033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Resource savings (Managed Service  2 FTE ) = $60,000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Licence savings (Oracle GoldenGate + Database) = $19,174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3440" y="702971"/>
            <a:ext cx="4114800" cy="910088"/>
          </a:xfrm>
          <a:prstGeom prst="roundRect">
            <a:avLst>
              <a:gd name="adj" fmla="val 5333"/>
            </a:avLst>
          </a:prstGeom>
          <a:solidFill>
            <a:srgbClr val="D99A2B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814316" y="84013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" descr="icon_tran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754" y="915570"/>
            <a:ext cx="185166" cy="1851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25796" y="812700"/>
            <a:ext cx="25374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88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One-Time Transition Cost</a:t>
            </a:r>
            <a:endParaRPr lang="en-US" sz="10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029450" y="785268"/>
            <a:ext cx="161163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25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$64,800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869180" y="1210464"/>
            <a:ext cx="37033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161D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Additional 2 developers for 6-month transition/handover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161D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× $5400/mo (additional) × 6 months = $64,800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icon_t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46" y="1785288"/>
            <a:ext cx="178308" cy="178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7776" y="1757856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5-Year Total Cost of Ownership (Net Savings)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213250"/>
              </p:ext>
            </p:extLst>
          </p:nvPr>
        </p:nvGraphicFramePr>
        <p:xfrm>
          <a:off x="677746" y="1994423"/>
          <a:ext cx="7693429" cy="1143000"/>
        </p:xfrm>
        <a:graphic>
          <a:graphicData uri="http://schemas.openxmlformats.org/drawingml/2006/table">
            <a:tbl>
              <a:tblPr/>
              <a:tblGrid>
                <a:gridCol w="1000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8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8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2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Cost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Savings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Savings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$79,174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($64,800)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$14,574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$14,574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$79,174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$79,174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$93,748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$79,174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$79,174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$172,922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$79,174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$79,174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$252,096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$79,174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$79,174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$331,270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3"/>
          <p:cNvSpPr/>
          <p:nvPr/>
        </p:nvSpPr>
        <p:spPr>
          <a:xfrm>
            <a:off x="342900" y="3211751"/>
            <a:ext cx="8435340" cy="342869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582930" y="3130699"/>
            <a:ext cx="1645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D99A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$331,270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2331720" y="3099528"/>
            <a:ext cx="62407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 savings over 5 years  after absorbing the one-time $64,800 transition cost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C5A49AD-8F37-024E-1057-D8E146F6457C}"/>
              </a:ext>
            </a:extLst>
          </p:cNvPr>
          <p:cNvSpPr/>
          <p:nvPr/>
        </p:nvSpPr>
        <p:spPr>
          <a:xfrm>
            <a:off x="1097274" y="3676348"/>
            <a:ext cx="1426351" cy="1005162"/>
          </a:xfrm>
          <a:prstGeom prst="roundRect">
            <a:avLst>
              <a:gd name="adj" fmla="val 5517"/>
            </a:avLst>
          </a:prstGeom>
          <a:solidFill>
            <a:srgbClr val="FBF3E3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013">
              <a:latin typeface="Tenorite" panose="00000500000000000000" pitchFamily="2" charset="0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1E1BEB8E-C405-DFF8-8D5B-B77F4B40EC60}"/>
              </a:ext>
            </a:extLst>
          </p:cNvPr>
          <p:cNvSpPr/>
          <p:nvPr/>
        </p:nvSpPr>
        <p:spPr>
          <a:xfrm>
            <a:off x="1651151" y="3675410"/>
            <a:ext cx="257175" cy="2571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013">
              <a:latin typeface="Tenorite" panose="00000500000000000000" pitchFamily="2" charset="0"/>
            </a:endParaRPr>
          </a:p>
        </p:txBody>
      </p:sp>
      <p:pic>
        <p:nvPicPr>
          <p:cNvPr id="27" name="Image 2" descr="icon_energy.png">
            <a:extLst>
              <a:ext uri="{FF2B5EF4-FFF2-40B4-BE49-F238E27FC236}">
                <a16:creationId xmlns:a16="http://schemas.microsoft.com/office/drawing/2014/main" id="{C2CC5346-0C78-A62E-348F-B7A80360FF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7730" y="3731988"/>
            <a:ext cx="144018" cy="144018"/>
          </a:xfrm>
          <a:prstGeom prst="rect">
            <a:avLst/>
          </a:prstGeom>
        </p:spPr>
      </p:pic>
      <p:sp>
        <p:nvSpPr>
          <p:cNvPr id="29" name="Text 14">
            <a:extLst>
              <a:ext uri="{FF2B5EF4-FFF2-40B4-BE49-F238E27FC236}">
                <a16:creationId xmlns:a16="http://schemas.microsoft.com/office/drawing/2014/main" id="{CE9763E3-B1B1-359E-BDF0-6E6B79839287}"/>
              </a:ext>
            </a:extLst>
          </p:cNvPr>
          <p:cNvSpPr/>
          <p:nvPr/>
        </p:nvSpPr>
        <p:spPr>
          <a:xfrm>
            <a:off x="1254073" y="3953159"/>
            <a:ext cx="1051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00" b="1" dirty="0">
                <a:solidFill>
                  <a:srgbClr val="1E2761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Energy Savings</a:t>
            </a:r>
            <a:endParaRPr lang="en-US" sz="800" dirty="0">
              <a:latin typeface="Tenorite" panose="00000500000000000000" pitchFamily="2" charset="0"/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17DBF253-C668-0770-4DF4-57CA482056D0}"/>
              </a:ext>
            </a:extLst>
          </p:cNvPr>
          <p:cNvSpPr/>
          <p:nvPr/>
        </p:nvSpPr>
        <p:spPr>
          <a:xfrm>
            <a:off x="1141847" y="4176046"/>
            <a:ext cx="1226210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800" dirty="0">
                <a:solidFill>
                  <a:srgbClr val="161D4A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Lower power &amp; cooling draw from consolidated infrastructure.</a:t>
            </a:r>
            <a:endParaRPr lang="en-US" sz="800" dirty="0">
              <a:latin typeface="Tenorite" panose="00000500000000000000" pitchFamily="2" charset="0"/>
            </a:endParaRPr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7B780F85-A293-A4C6-4D0F-DFEBCA9E0D6D}"/>
              </a:ext>
            </a:extLst>
          </p:cNvPr>
          <p:cNvSpPr/>
          <p:nvPr/>
        </p:nvSpPr>
        <p:spPr>
          <a:xfrm>
            <a:off x="2572248" y="3676348"/>
            <a:ext cx="1426351" cy="1005162"/>
          </a:xfrm>
          <a:prstGeom prst="roundRect">
            <a:avLst>
              <a:gd name="adj" fmla="val 5517"/>
            </a:avLst>
          </a:prstGeom>
          <a:solidFill>
            <a:srgbClr val="FBF3E3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013">
              <a:latin typeface="Tenorite" panose="00000500000000000000" pitchFamily="2" charset="0"/>
            </a:endParaRPr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2141C783-2ACF-B10A-F1C3-1FC1F7B4760E}"/>
              </a:ext>
            </a:extLst>
          </p:cNvPr>
          <p:cNvSpPr/>
          <p:nvPr/>
        </p:nvSpPr>
        <p:spPr>
          <a:xfrm>
            <a:off x="3126125" y="3675410"/>
            <a:ext cx="257175" cy="2571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013">
              <a:latin typeface="Tenorite" panose="00000500000000000000" pitchFamily="2" charset="0"/>
            </a:endParaRPr>
          </a:p>
        </p:txBody>
      </p:sp>
      <p:pic>
        <p:nvPicPr>
          <p:cNvPr id="37" name="Image 3" descr="icon_hwmaint.png">
            <a:extLst>
              <a:ext uri="{FF2B5EF4-FFF2-40B4-BE49-F238E27FC236}">
                <a16:creationId xmlns:a16="http://schemas.microsoft.com/office/drawing/2014/main" id="{7DF5088A-7B47-96B0-8035-8216167600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2704" y="3731988"/>
            <a:ext cx="144018" cy="144018"/>
          </a:xfrm>
          <a:prstGeom prst="rect">
            <a:avLst/>
          </a:prstGeom>
        </p:spPr>
      </p:pic>
      <p:sp>
        <p:nvSpPr>
          <p:cNvPr id="39" name="Text 18">
            <a:extLst>
              <a:ext uri="{FF2B5EF4-FFF2-40B4-BE49-F238E27FC236}">
                <a16:creationId xmlns:a16="http://schemas.microsoft.com/office/drawing/2014/main" id="{6B69ED2D-4C20-0970-BFFA-EBBD10E15794}"/>
              </a:ext>
            </a:extLst>
          </p:cNvPr>
          <p:cNvSpPr/>
          <p:nvPr/>
        </p:nvSpPr>
        <p:spPr>
          <a:xfrm>
            <a:off x="2729047" y="3953159"/>
            <a:ext cx="1051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00" b="1" dirty="0">
                <a:solidFill>
                  <a:srgbClr val="1E2761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HW Maintenance</a:t>
            </a:r>
            <a:endParaRPr lang="en-US" sz="800" dirty="0">
              <a:latin typeface="Tenorite" panose="00000500000000000000" pitchFamily="2" charset="0"/>
            </a:endParaRPr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8EFB4E79-93B3-90BE-89F8-4F59B58F220B}"/>
              </a:ext>
            </a:extLst>
          </p:cNvPr>
          <p:cNvSpPr/>
          <p:nvPr/>
        </p:nvSpPr>
        <p:spPr>
          <a:xfrm>
            <a:off x="2623056" y="4176046"/>
            <a:ext cx="1287932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800" dirty="0">
                <a:solidFill>
                  <a:srgbClr val="161D4A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Reduced AMC spend on ageing, unsupported hardware.</a:t>
            </a:r>
            <a:endParaRPr lang="en-US" sz="800" dirty="0">
              <a:latin typeface="Tenorite" panose="00000500000000000000" pitchFamily="2" charset="0"/>
            </a:endParaRPr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2F03C093-7070-9CE8-052C-ECA10AC36446}"/>
              </a:ext>
            </a:extLst>
          </p:cNvPr>
          <p:cNvSpPr/>
          <p:nvPr/>
        </p:nvSpPr>
        <p:spPr>
          <a:xfrm>
            <a:off x="4034750" y="3676348"/>
            <a:ext cx="1426351" cy="1005162"/>
          </a:xfrm>
          <a:prstGeom prst="roundRect">
            <a:avLst>
              <a:gd name="adj" fmla="val 5517"/>
            </a:avLst>
          </a:prstGeom>
          <a:solidFill>
            <a:srgbClr val="FBF3E3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013">
              <a:latin typeface="Tenorite" panose="00000500000000000000" pitchFamily="2" charset="0"/>
            </a:endParaRPr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020612D0-9C8A-9109-19D5-245D14E3297F}"/>
              </a:ext>
            </a:extLst>
          </p:cNvPr>
          <p:cNvSpPr/>
          <p:nvPr/>
        </p:nvSpPr>
        <p:spPr>
          <a:xfrm>
            <a:off x="4588627" y="3675410"/>
            <a:ext cx="257175" cy="2571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013">
              <a:latin typeface="Tenorite" panose="00000500000000000000" pitchFamily="2" charset="0"/>
            </a:endParaRPr>
          </a:p>
        </p:txBody>
      </p:sp>
      <p:pic>
        <p:nvPicPr>
          <p:cNvPr id="47" name="Image 4" descr="icon_esb.png">
            <a:extLst>
              <a:ext uri="{FF2B5EF4-FFF2-40B4-BE49-F238E27FC236}">
                <a16:creationId xmlns:a16="http://schemas.microsoft.com/office/drawing/2014/main" id="{5F1825ED-5FFB-0812-397C-9461EC9EB6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205" y="3731988"/>
            <a:ext cx="144018" cy="144018"/>
          </a:xfrm>
          <a:prstGeom prst="rect">
            <a:avLst/>
          </a:prstGeom>
        </p:spPr>
      </p:pic>
      <p:sp>
        <p:nvSpPr>
          <p:cNvPr id="49" name="Text 22">
            <a:extLst>
              <a:ext uri="{FF2B5EF4-FFF2-40B4-BE49-F238E27FC236}">
                <a16:creationId xmlns:a16="http://schemas.microsoft.com/office/drawing/2014/main" id="{4A5E088D-F8CE-4F8A-7613-3F3B89C73112}"/>
              </a:ext>
            </a:extLst>
          </p:cNvPr>
          <p:cNvSpPr/>
          <p:nvPr/>
        </p:nvSpPr>
        <p:spPr>
          <a:xfrm>
            <a:off x="4191548" y="3953159"/>
            <a:ext cx="1051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00" b="1" dirty="0">
                <a:solidFill>
                  <a:srgbClr val="1E2761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Reduced ESB Load</a:t>
            </a:r>
            <a:endParaRPr lang="en-US" sz="800" dirty="0">
              <a:latin typeface="Tenorite" panose="00000500000000000000" pitchFamily="2" charset="0"/>
            </a:endParaRPr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E194969C-B408-FBCD-2B4F-E6F3CFD4AEF8}"/>
              </a:ext>
            </a:extLst>
          </p:cNvPr>
          <p:cNvSpPr/>
          <p:nvPr/>
        </p:nvSpPr>
        <p:spPr>
          <a:xfrm>
            <a:off x="4092421" y="4188515"/>
            <a:ext cx="1243982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800" dirty="0">
                <a:solidFill>
                  <a:srgbClr val="161D4A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Fewer integration hops lighten the ESB and improve throughput.</a:t>
            </a:r>
            <a:endParaRPr lang="en-US" sz="800" dirty="0">
              <a:latin typeface="Tenorite" panose="00000500000000000000" pitchFamily="2" charset="0"/>
            </a:endParaRPr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866B18C3-7204-0037-8669-A2D25A7A184D}"/>
              </a:ext>
            </a:extLst>
          </p:cNvPr>
          <p:cNvSpPr/>
          <p:nvPr/>
        </p:nvSpPr>
        <p:spPr>
          <a:xfrm>
            <a:off x="5497248" y="3676348"/>
            <a:ext cx="1426351" cy="1005162"/>
          </a:xfrm>
          <a:prstGeom prst="roundRect">
            <a:avLst>
              <a:gd name="adj" fmla="val 5517"/>
            </a:avLst>
          </a:prstGeom>
          <a:solidFill>
            <a:srgbClr val="FBF3E3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013">
              <a:latin typeface="Tenorite" panose="00000500000000000000" pitchFamily="2" charset="0"/>
            </a:endParaRPr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38888E91-43BB-209D-BB5D-A7503793F626}"/>
              </a:ext>
            </a:extLst>
          </p:cNvPr>
          <p:cNvSpPr/>
          <p:nvPr/>
        </p:nvSpPr>
        <p:spPr>
          <a:xfrm>
            <a:off x="6051125" y="3675410"/>
            <a:ext cx="257175" cy="2571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013">
              <a:latin typeface="Tenorite" panose="00000500000000000000" pitchFamily="2" charset="0"/>
            </a:endParaRPr>
          </a:p>
        </p:txBody>
      </p:sp>
      <p:pic>
        <p:nvPicPr>
          <p:cNvPr id="57" name="Image 5" descr="icon_arch.png">
            <a:extLst>
              <a:ext uri="{FF2B5EF4-FFF2-40B4-BE49-F238E27FC236}">
                <a16:creationId xmlns:a16="http://schemas.microsoft.com/office/drawing/2014/main" id="{7188D1CD-1D77-C1E2-8C97-BAB1D49CFD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7703" y="3731988"/>
            <a:ext cx="144018" cy="144018"/>
          </a:xfrm>
          <a:prstGeom prst="rect">
            <a:avLst/>
          </a:prstGeom>
        </p:spPr>
      </p:pic>
      <p:sp>
        <p:nvSpPr>
          <p:cNvPr id="59" name="Text 26">
            <a:extLst>
              <a:ext uri="{FF2B5EF4-FFF2-40B4-BE49-F238E27FC236}">
                <a16:creationId xmlns:a16="http://schemas.microsoft.com/office/drawing/2014/main" id="{A8223FB1-803D-3878-CD2F-27B3F9BEEDEA}"/>
              </a:ext>
            </a:extLst>
          </p:cNvPr>
          <p:cNvSpPr/>
          <p:nvPr/>
        </p:nvSpPr>
        <p:spPr>
          <a:xfrm>
            <a:off x="5654046" y="3953159"/>
            <a:ext cx="1255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00" b="1" dirty="0">
                <a:solidFill>
                  <a:srgbClr val="1E2761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Architecture Consolidation</a:t>
            </a:r>
            <a:endParaRPr lang="en-US" sz="800" dirty="0">
              <a:latin typeface="Tenorite" panose="00000500000000000000" pitchFamily="2" charset="0"/>
            </a:endParaRPr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6DE486D0-D88F-E1E0-A2CB-8A87130AA83B}"/>
              </a:ext>
            </a:extLst>
          </p:cNvPr>
          <p:cNvSpPr/>
          <p:nvPr/>
        </p:nvSpPr>
        <p:spPr>
          <a:xfrm>
            <a:off x="5541825" y="4194750"/>
            <a:ext cx="1131133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800" dirty="0">
                <a:solidFill>
                  <a:srgbClr val="161D4A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Fewer platforms to license, patch and operate.</a:t>
            </a:r>
            <a:endParaRPr lang="en-US" sz="800" dirty="0">
              <a:latin typeface="Tenorite" panose="00000500000000000000" pitchFamily="2" charset="0"/>
            </a:endParaRPr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C36C430A-F79E-630F-D876-26C85BF80AE7}"/>
              </a:ext>
            </a:extLst>
          </p:cNvPr>
          <p:cNvSpPr/>
          <p:nvPr/>
        </p:nvSpPr>
        <p:spPr>
          <a:xfrm>
            <a:off x="6959745" y="3680514"/>
            <a:ext cx="1426351" cy="1005162"/>
          </a:xfrm>
          <a:prstGeom prst="roundRect">
            <a:avLst>
              <a:gd name="adj" fmla="val 5517"/>
            </a:avLst>
          </a:prstGeom>
          <a:solidFill>
            <a:srgbClr val="FBF3E3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013">
              <a:latin typeface="Tenorite" panose="00000500000000000000" pitchFamily="2" charset="0"/>
            </a:endParaRPr>
          </a:p>
        </p:txBody>
      </p:sp>
      <p:sp>
        <p:nvSpPr>
          <p:cNvPr id="65" name="Shape 29">
            <a:extLst>
              <a:ext uri="{FF2B5EF4-FFF2-40B4-BE49-F238E27FC236}">
                <a16:creationId xmlns:a16="http://schemas.microsoft.com/office/drawing/2014/main" id="{85AD4D89-2D18-11E4-5861-76E75432F7A1}"/>
              </a:ext>
            </a:extLst>
          </p:cNvPr>
          <p:cNvSpPr/>
          <p:nvPr/>
        </p:nvSpPr>
        <p:spPr>
          <a:xfrm>
            <a:off x="7532329" y="3675410"/>
            <a:ext cx="257175" cy="2571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013">
              <a:latin typeface="Tenorite" panose="00000500000000000000" pitchFamily="2" charset="0"/>
            </a:endParaRPr>
          </a:p>
        </p:txBody>
      </p:sp>
      <p:pic>
        <p:nvPicPr>
          <p:cNvPr id="67" name="Image 6" descr="icon_scale.png">
            <a:extLst>
              <a:ext uri="{FF2B5EF4-FFF2-40B4-BE49-F238E27FC236}">
                <a16:creationId xmlns:a16="http://schemas.microsoft.com/office/drawing/2014/main" id="{F57BE1BB-193F-91E8-A950-1A47FD96F3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8907" y="3731988"/>
            <a:ext cx="144018" cy="144018"/>
          </a:xfrm>
          <a:prstGeom prst="rect">
            <a:avLst/>
          </a:prstGeom>
        </p:spPr>
      </p:pic>
      <p:sp>
        <p:nvSpPr>
          <p:cNvPr id="69" name="Text 30">
            <a:extLst>
              <a:ext uri="{FF2B5EF4-FFF2-40B4-BE49-F238E27FC236}">
                <a16:creationId xmlns:a16="http://schemas.microsoft.com/office/drawing/2014/main" id="{426623FF-DBD2-C9CC-09DB-4704B4D02861}"/>
              </a:ext>
            </a:extLst>
          </p:cNvPr>
          <p:cNvSpPr/>
          <p:nvPr/>
        </p:nvSpPr>
        <p:spPr>
          <a:xfrm>
            <a:off x="7135250" y="3953159"/>
            <a:ext cx="1200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00" b="1" dirty="0">
                <a:solidFill>
                  <a:srgbClr val="1E2761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Scalability &amp; Maintenance</a:t>
            </a:r>
            <a:endParaRPr lang="en-US" sz="800" dirty="0">
              <a:latin typeface="Tenorite" panose="00000500000000000000" pitchFamily="2" charset="0"/>
            </a:endParaRPr>
          </a:p>
        </p:txBody>
      </p:sp>
      <p:sp>
        <p:nvSpPr>
          <p:cNvPr id="71" name="Text 31">
            <a:extLst>
              <a:ext uri="{FF2B5EF4-FFF2-40B4-BE49-F238E27FC236}">
                <a16:creationId xmlns:a16="http://schemas.microsoft.com/office/drawing/2014/main" id="{E637EA91-3C89-3E18-FB9D-F1F80A2651D6}"/>
              </a:ext>
            </a:extLst>
          </p:cNvPr>
          <p:cNvSpPr/>
          <p:nvPr/>
        </p:nvSpPr>
        <p:spPr>
          <a:xfrm>
            <a:off x="7035494" y="4188515"/>
            <a:ext cx="1150463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800" dirty="0">
                <a:solidFill>
                  <a:srgbClr val="161D4A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Elastic scaling cuts manual tuning and DBA overhead.</a:t>
            </a:r>
            <a:endParaRPr lang="en-US" sz="800" dirty="0">
              <a:latin typeface="Tenorite" panose="00000500000000000000" pitchFamily="2" charset="0"/>
            </a:endParaRPr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99025DC3-3494-4AD5-8A9C-471B9BFD419D}"/>
              </a:ext>
            </a:extLst>
          </p:cNvPr>
          <p:cNvSpPr/>
          <p:nvPr/>
        </p:nvSpPr>
        <p:spPr>
          <a:xfrm>
            <a:off x="294733" y="3887232"/>
            <a:ext cx="663675" cy="514350"/>
          </a:xfrm>
          <a:prstGeom prst="roundRect">
            <a:avLst>
              <a:gd name="adj" fmla="val 5517"/>
            </a:avLst>
          </a:prstGeom>
          <a:solidFill>
            <a:schemeClr val="accent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013">
              <a:latin typeface="Tenorite" panose="00000500000000000000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67FE55-511A-FC64-E274-FA62AACCC576}"/>
              </a:ext>
            </a:extLst>
          </p:cNvPr>
          <p:cNvSpPr txBox="1"/>
          <p:nvPr/>
        </p:nvSpPr>
        <p:spPr>
          <a:xfrm>
            <a:off x="374876" y="3965099"/>
            <a:ext cx="58913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dirty="0">
                <a:latin typeface="Tenorite" panose="00000500000000000000" pitchFamily="2" charset="0"/>
              </a:rPr>
              <a:t>OTHER  BENEFITS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1A09E5-5A2D-DDB4-2BBD-8615E2B17C3B}"/>
              </a:ext>
            </a:extLst>
          </p:cNvPr>
          <p:cNvCxnSpPr/>
          <p:nvPr/>
        </p:nvCxnSpPr>
        <p:spPr>
          <a:xfrm>
            <a:off x="0" y="4813327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0575E5"/>
                </a:gs>
                <a:gs pos="100000">
                  <a:srgbClr val="00F26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ubtitle 2">
            <a:extLst>
              <a:ext uri="{FF2B5EF4-FFF2-40B4-BE49-F238E27FC236}">
                <a16:creationId xmlns:a16="http://schemas.microsoft.com/office/drawing/2014/main" id="{7C281E64-1522-D032-2FC0-6830B0B34AEF}"/>
              </a:ext>
            </a:extLst>
          </p:cNvPr>
          <p:cNvSpPr txBox="1">
            <a:spLocks/>
          </p:cNvSpPr>
          <p:nvPr/>
        </p:nvSpPr>
        <p:spPr>
          <a:xfrm>
            <a:off x="4627143" y="4833537"/>
            <a:ext cx="3154766" cy="2631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MY" sz="800">
                <a:solidFill>
                  <a:srgbClr val="222222"/>
                </a:solidFill>
                <a:latin typeface="Tenorite" panose="00000500000000000000" pitchFamily="2" charset="0"/>
              </a:rPr>
              <a:t>Driving </a:t>
            </a:r>
            <a:r>
              <a:rPr lang="en-MY" sz="800" b="1">
                <a:solidFill>
                  <a:srgbClr val="222222"/>
                </a:solidFill>
                <a:latin typeface="Tenorite" panose="00000500000000000000" pitchFamily="2" charset="0"/>
              </a:rPr>
              <a:t>Success </a:t>
            </a:r>
            <a:r>
              <a:rPr lang="en-MY" sz="800">
                <a:solidFill>
                  <a:srgbClr val="222222"/>
                </a:solidFill>
                <a:latin typeface="Tenorite" panose="00000500000000000000" pitchFamily="2" charset="0"/>
              </a:rPr>
              <a:t>through </a:t>
            </a:r>
            <a:r>
              <a:rPr lang="en-MY" sz="800" b="1">
                <a:solidFill>
                  <a:srgbClr val="222222"/>
                </a:solidFill>
                <a:latin typeface="Tenorite" panose="00000500000000000000" pitchFamily="2" charset="0"/>
              </a:rPr>
              <a:t>TEAMs</a:t>
            </a:r>
            <a:br>
              <a:rPr lang="en-US" sz="80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</a:br>
            <a:r>
              <a:rPr lang="en-US" sz="60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(Transformation, Engagement &amp; Efficiency, Agility, Modernization)</a:t>
            </a:r>
            <a:endParaRPr lang="en-US" sz="600">
              <a:solidFill>
                <a:srgbClr val="070952"/>
              </a:solidFill>
              <a:latin typeface="Tenorite" panose="00000500000000000000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27DCD12-A53D-E90A-BC39-E9852BF252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7170" y="4810806"/>
            <a:ext cx="988246" cy="308610"/>
          </a:xfrm>
          <a:prstGeom prst="rect">
            <a:avLst/>
          </a:prstGeom>
        </p:spPr>
      </p:pic>
      <p:sp>
        <p:nvSpPr>
          <p:cNvPr id="28" name="Subtitle 2">
            <a:extLst>
              <a:ext uri="{FF2B5EF4-FFF2-40B4-BE49-F238E27FC236}">
                <a16:creationId xmlns:a16="http://schemas.microsoft.com/office/drawing/2014/main" id="{E0E15389-D00E-1D37-FA0E-E1BF1683B823}"/>
              </a:ext>
            </a:extLst>
          </p:cNvPr>
          <p:cNvSpPr txBox="1">
            <a:spLocks/>
          </p:cNvSpPr>
          <p:nvPr/>
        </p:nvSpPr>
        <p:spPr>
          <a:xfrm>
            <a:off x="2185838" y="4819687"/>
            <a:ext cx="2286000" cy="2908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Deliver Trusted </a:t>
            </a:r>
            <a:r>
              <a:rPr lang="en-US" sz="800">
                <a:solidFill>
                  <a:srgbClr val="222222"/>
                </a:solidFill>
                <a:latin typeface="Tenorite" panose="00000500000000000000" pitchFamily="2" charset="0"/>
              </a:rPr>
              <a:t>&amp; </a:t>
            </a: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Innovative</a:t>
            </a:r>
            <a:b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</a:br>
            <a:r>
              <a:rPr lang="en-US" sz="800" b="1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Digital Services</a:t>
            </a:r>
            <a:r>
              <a:rPr lang="en-US" sz="800">
                <a:solidFill>
                  <a:srgbClr val="222222"/>
                </a:solidFill>
                <a:latin typeface="Tenorite" panose="00000500000000000000" pitchFamily="2" charset="0"/>
              </a:rPr>
              <a:t> for </a:t>
            </a:r>
            <a:r>
              <a:rPr lang="en-US" sz="800" b="1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Everyone.</a:t>
            </a:r>
            <a:endParaRPr lang="en-US" sz="800"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latin typeface="Tenorite" panose="00000500000000000000" pitchFamily="2" charset="0"/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BB45B6E8-2CC5-1552-8FA6-1D2D5F86D816}"/>
              </a:ext>
            </a:extLst>
          </p:cNvPr>
          <p:cNvSpPr txBox="1">
            <a:spLocks/>
          </p:cNvSpPr>
          <p:nvPr/>
        </p:nvSpPr>
        <p:spPr>
          <a:xfrm>
            <a:off x="8293" y="4875086"/>
            <a:ext cx="2286000" cy="1800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Information Technology</a:t>
            </a:r>
            <a:endParaRPr lang="en-US" sz="800"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latin typeface="Tenorite" panose="00000500000000000000" pitchFamily="2" charset="0"/>
            </a:endParaRPr>
          </a:p>
        </p:txBody>
      </p:sp>
      <p:pic>
        <p:nvPicPr>
          <p:cNvPr id="34" name="Picture 33" descr="Logo&#10;&#10;Description automatically generated">
            <a:extLst>
              <a:ext uri="{FF2B5EF4-FFF2-40B4-BE49-F238E27FC236}">
                <a16:creationId xmlns:a16="http://schemas.microsoft.com/office/drawing/2014/main" id="{50643E42-7892-5FCB-85DD-2B6CB57F34EF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323" t="26205" r="8720" b="26872"/>
          <a:stretch/>
        </p:blipFill>
        <p:spPr>
          <a:xfrm>
            <a:off x="8633689" y="42335"/>
            <a:ext cx="457200" cy="4488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4">
            <a:extLst>
              <a:ext uri="{FF2B5EF4-FFF2-40B4-BE49-F238E27FC236}">
                <a16:creationId xmlns:a16="http://schemas.microsoft.com/office/drawing/2014/main" id="{4033BB9C-88A6-C737-0626-8DD5A6DD12E7}"/>
              </a:ext>
            </a:extLst>
          </p:cNvPr>
          <p:cNvSpPr/>
          <p:nvPr/>
        </p:nvSpPr>
        <p:spPr>
          <a:xfrm>
            <a:off x="7041324" y="483350"/>
            <a:ext cx="1736916" cy="546560"/>
          </a:xfrm>
          <a:prstGeom prst="roundRect">
            <a:avLst>
              <a:gd name="adj" fmla="val 869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67690"/>
            <a:ext cx="38930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000" b="1" dirty="0">
                <a:solidFill>
                  <a:prstClr val="black"/>
                </a:solidFill>
                <a:latin typeface="Tenorite" panose="00000500000000000000" pitchFamily="2" charset="0"/>
                <a:ea typeface="Cambria" pitchFamily="34" charset="-122"/>
                <a:cs typeface="Cambria" pitchFamily="34" charset="-120"/>
              </a:rPr>
              <a:t>Migration Risks &amp; Dependencies</a:t>
            </a:r>
            <a:endParaRPr lang="en-US" sz="20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99596" y="525148"/>
            <a:ext cx="1587204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defTabSz="685800"/>
            <a:r>
              <a:rPr lang="en-US" sz="713" b="1" kern="0" spc="90" dirty="0">
                <a:solidFill>
                  <a:prstClr val="black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RISKS IDENTIFIED</a:t>
            </a:r>
            <a:endParaRPr lang="en-US" sz="713" dirty="0">
              <a:solidFill>
                <a:prstClr val="black"/>
              </a:solidFill>
              <a:latin typeface="Tenorite" panose="00000500000000000000" pitchFamily="2" charset="0"/>
            </a:endParaRPr>
          </a:p>
          <a:p>
            <a:pPr algn="r" defTabSz="685800"/>
            <a:r>
              <a:rPr lang="en-US" sz="1350" b="1" dirty="0">
                <a:solidFill>
                  <a:prstClr val="black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3 High</a:t>
            </a:r>
            <a:r>
              <a:rPr lang="en-US" sz="1350" dirty="0">
                <a:solidFill>
                  <a:prstClr val="black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  /  </a:t>
            </a:r>
            <a:r>
              <a:rPr lang="en-US" sz="1350" b="1" dirty="0">
                <a:solidFill>
                  <a:prstClr val="black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2 Medium</a:t>
            </a:r>
            <a:endParaRPr lang="en-US" sz="713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110153"/>
              </p:ext>
            </p:extLst>
          </p:nvPr>
        </p:nvGraphicFramePr>
        <p:xfrm>
          <a:off x="342900" y="1112520"/>
          <a:ext cx="8435340" cy="3051810"/>
        </p:xfrm>
        <a:graphic>
          <a:graphicData uri="http://schemas.openxmlformats.org/drawingml/2006/table">
            <a:tbl>
              <a:tblPr/>
              <a:tblGrid>
                <a:gridCol w="308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0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Interface Dependency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CIM view is exposed from Legacy today. Post-migration, the AEP view must be exposed from THC instead.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1B1F2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Validate feasibility of exposing the required views from both Legacy and THC before cutover.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AEP License Capacity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Existing AEP system is already running high on license usage, with no current headroom.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1B1F2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Clean up existing license allocation before onboarding additional data feeds.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89A3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Delivery Resourcing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Migration development work requires dedicated, hands-on technical resourcing.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1B1F2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Onboard 2 developers on-site for the duration of the development phase.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89A3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AEP DB Performance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AEP database may experience slowness once MIS workloads are migrated onto it.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1B1F2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Load-test AEP DB capacity and plan tuning/scaling ahead of migration.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Reporting Continuity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GG based CAF reports currently depend on the existing MIS setup.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1B1F2E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Define and validate the delivery mechanism for CAF reports post-migration.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Tenorite" panose="00000500000000000000" pitchFamily="2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Tenorite" panose="00000500000000000000" pitchFamily="2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2900" y="4220441"/>
            <a:ext cx="8435340" cy="51435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14350" y="4220441"/>
            <a:ext cx="8092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dirty="0">
                <a:solidFill>
                  <a:srgbClr val="1E2761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900" dirty="0">
                <a:solidFill>
                  <a:srgbClr val="1B1F2E"/>
                </a:solidFill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Resolve the Legacy/THC interface dependency and validate AEP DB capacity before migration go-live</a:t>
            </a:r>
            <a:endParaRPr lang="en-US" sz="9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316FD0-C35F-E105-2E58-C636AAC41C4D}"/>
              </a:ext>
            </a:extLst>
          </p:cNvPr>
          <p:cNvCxnSpPr/>
          <p:nvPr/>
        </p:nvCxnSpPr>
        <p:spPr>
          <a:xfrm>
            <a:off x="0" y="4813240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0575E5"/>
                </a:gs>
                <a:gs pos="100000">
                  <a:srgbClr val="00F26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2A55E935-1BB3-372A-E877-8D43C7BADFBC}"/>
              </a:ext>
            </a:extLst>
          </p:cNvPr>
          <p:cNvSpPr txBox="1">
            <a:spLocks/>
          </p:cNvSpPr>
          <p:nvPr/>
        </p:nvSpPr>
        <p:spPr>
          <a:xfrm>
            <a:off x="4627143" y="4839800"/>
            <a:ext cx="3154766" cy="2631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MY" sz="800">
                <a:solidFill>
                  <a:srgbClr val="222222"/>
                </a:solidFill>
                <a:latin typeface="Tenorite" panose="00000500000000000000" pitchFamily="2" charset="0"/>
              </a:rPr>
              <a:t>Driving </a:t>
            </a:r>
            <a:r>
              <a:rPr lang="en-MY" sz="800" b="1">
                <a:solidFill>
                  <a:srgbClr val="222222"/>
                </a:solidFill>
                <a:latin typeface="Tenorite" panose="00000500000000000000" pitchFamily="2" charset="0"/>
              </a:rPr>
              <a:t>Success </a:t>
            </a:r>
            <a:r>
              <a:rPr lang="en-MY" sz="800">
                <a:solidFill>
                  <a:srgbClr val="222222"/>
                </a:solidFill>
                <a:latin typeface="Tenorite" panose="00000500000000000000" pitchFamily="2" charset="0"/>
              </a:rPr>
              <a:t>through </a:t>
            </a:r>
            <a:r>
              <a:rPr lang="en-MY" sz="800" b="1">
                <a:solidFill>
                  <a:srgbClr val="222222"/>
                </a:solidFill>
                <a:latin typeface="Tenorite" panose="00000500000000000000" pitchFamily="2" charset="0"/>
              </a:rPr>
              <a:t>TEAMs</a:t>
            </a:r>
            <a:br>
              <a:rPr lang="en-US" sz="80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</a:br>
            <a:r>
              <a:rPr lang="en-US" sz="60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(Transformation, Engagement &amp; Efficiency, Agility, Modernization)</a:t>
            </a:r>
            <a:endParaRPr lang="en-US" sz="600">
              <a:solidFill>
                <a:srgbClr val="070952"/>
              </a:solidFill>
              <a:latin typeface="Tenorite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CD29DE-D151-44F1-9448-DF5D82AF4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170" y="4817069"/>
            <a:ext cx="988246" cy="30861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A7F01FA-D17A-8C28-0E26-3C87F258E3D2}"/>
              </a:ext>
            </a:extLst>
          </p:cNvPr>
          <p:cNvSpPr txBox="1">
            <a:spLocks/>
          </p:cNvSpPr>
          <p:nvPr/>
        </p:nvSpPr>
        <p:spPr>
          <a:xfrm>
            <a:off x="2185838" y="4825950"/>
            <a:ext cx="2286000" cy="2908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Deliver Trusted </a:t>
            </a:r>
            <a:r>
              <a:rPr lang="en-US" sz="800">
                <a:solidFill>
                  <a:srgbClr val="222222"/>
                </a:solidFill>
                <a:latin typeface="Tenorite" panose="00000500000000000000" pitchFamily="2" charset="0"/>
              </a:rPr>
              <a:t>&amp; </a:t>
            </a: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Innovative</a:t>
            </a:r>
            <a:b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</a:br>
            <a:r>
              <a:rPr lang="en-US" sz="800" b="1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Digital Services</a:t>
            </a:r>
            <a:r>
              <a:rPr lang="en-US" sz="800">
                <a:solidFill>
                  <a:srgbClr val="222222"/>
                </a:solidFill>
                <a:latin typeface="Tenorite" panose="00000500000000000000" pitchFamily="2" charset="0"/>
              </a:rPr>
              <a:t> for </a:t>
            </a:r>
            <a:r>
              <a:rPr lang="en-US" sz="800" b="1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Everyone.</a:t>
            </a:r>
            <a:endParaRPr lang="en-US" sz="800"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latin typeface="Tenorite" panose="00000500000000000000" pitchFamily="2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940225B-F06F-6BCC-E1E9-B8B57054B560}"/>
              </a:ext>
            </a:extLst>
          </p:cNvPr>
          <p:cNvSpPr txBox="1">
            <a:spLocks/>
          </p:cNvSpPr>
          <p:nvPr/>
        </p:nvSpPr>
        <p:spPr>
          <a:xfrm>
            <a:off x="8293" y="4881349"/>
            <a:ext cx="2286000" cy="1800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Information Technology</a:t>
            </a:r>
            <a:endParaRPr lang="en-US" sz="800"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latin typeface="Tenorite" panose="00000500000000000000" pitchFamily="2" charset="0"/>
            </a:endParaRP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C787279E-B457-275A-A001-CA2467B6026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323" t="26205" r="8720" b="26872"/>
          <a:stretch/>
        </p:blipFill>
        <p:spPr>
          <a:xfrm>
            <a:off x="8633689" y="42335"/>
            <a:ext cx="457200" cy="4488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D0C24D4-495E-7679-CD6E-58F9C38F4C4D}"/>
              </a:ext>
            </a:extLst>
          </p:cNvPr>
          <p:cNvSpPr txBox="1"/>
          <p:nvPr/>
        </p:nvSpPr>
        <p:spPr>
          <a:xfrm>
            <a:off x="552267" y="897956"/>
            <a:ext cx="7921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latin typeface="Tenorite" panose="00000500000000000000" pitchFamily="2" charset="0"/>
              </a:rPr>
              <a:t>MIS currently acts as a central reporting repository. It receives data from multiple operational systems through file transfers, database links and Oracle Golden-Gate replication. MIS then processes this data and provides datasets to reports, dashboards, APIs and other downstream applications.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CF2E7-A6D2-FA07-B67B-01D5F6697105}"/>
              </a:ext>
            </a:extLst>
          </p:cNvPr>
          <p:cNvSpPr txBox="1"/>
          <p:nvPr/>
        </p:nvSpPr>
        <p:spPr>
          <a:xfrm>
            <a:off x="493868" y="1233830"/>
            <a:ext cx="457309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1350" dirty="0">
                <a:solidFill>
                  <a:prstClr val="black"/>
                </a:solidFill>
                <a:latin typeface="Tenorite" panose="00000500000000000000" pitchFamily="2" charset="0"/>
              </a:rPr>
              <a:t>Current Data Integration Architecture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7E3906E-4F94-262A-EF5B-121C26D9D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40887"/>
              </p:ext>
            </p:extLst>
          </p:nvPr>
        </p:nvGraphicFramePr>
        <p:xfrm>
          <a:off x="493868" y="1584882"/>
          <a:ext cx="8147187" cy="286423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322836">
                  <a:extLst>
                    <a:ext uri="{9D8B030D-6E8A-4147-A177-3AD203B41FA5}">
                      <a16:colId xmlns:a16="http://schemas.microsoft.com/office/drawing/2014/main" val="3627511427"/>
                    </a:ext>
                  </a:extLst>
                </a:gridCol>
                <a:gridCol w="1646881">
                  <a:extLst>
                    <a:ext uri="{9D8B030D-6E8A-4147-A177-3AD203B41FA5}">
                      <a16:colId xmlns:a16="http://schemas.microsoft.com/office/drawing/2014/main" val="682529724"/>
                    </a:ext>
                  </a:extLst>
                </a:gridCol>
                <a:gridCol w="2166283">
                  <a:extLst>
                    <a:ext uri="{9D8B030D-6E8A-4147-A177-3AD203B41FA5}">
                      <a16:colId xmlns:a16="http://schemas.microsoft.com/office/drawing/2014/main" val="3206896263"/>
                    </a:ext>
                  </a:extLst>
                </a:gridCol>
                <a:gridCol w="2115610">
                  <a:extLst>
                    <a:ext uri="{9D8B030D-6E8A-4147-A177-3AD203B41FA5}">
                      <a16:colId xmlns:a16="http://schemas.microsoft.com/office/drawing/2014/main" val="2014199085"/>
                    </a:ext>
                  </a:extLst>
                </a:gridCol>
                <a:gridCol w="895577">
                  <a:extLst>
                    <a:ext uri="{9D8B030D-6E8A-4147-A177-3AD203B41FA5}">
                      <a16:colId xmlns:a16="http://schemas.microsoft.com/office/drawing/2014/main" val="1465014098"/>
                    </a:ext>
                  </a:extLst>
                </a:gridCol>
              </a:tblGrid>
              <a:tr h="371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Tenorite" panose="00000500000000000000" pitchFamily="2" charset="0"/>
                        </a:rPr>
                        <a:t>Integration type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Tenorite" panose="00000500000000000000" pitchFamily="2" charset="0"/>
                        </a:rPr>
                        <a:t>Approximate volume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Tenorite" panose="00000500000000000000" pitchFamily="2" charset="0"/>
                        </a:rPr>
                        <a:t>Current operation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Tenorite" panose="00000500000000000000" pitchFamily="2" charset="0"/>
                        </a:rPr>
                        <a:t>Migration requirement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Tenorite" panose="00000500000000000000" pitchFamily="2" charset="0"/>
                        </a:rPr>
                        <a:t>Complexity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17246"/>
                  </a:ext>
                </a:extLst>
              </a:tr>
              <a:tr h="3710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File-based feeds</a:t>
                      </a:r>
                      <a:endParaRPr lang="en-US" sz="950" b="1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15+ feeds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Source systems generate files and transfer them to MIS for scheduled loading.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>
                          <a:effectLst/>
                          <a:latin typeface="Tenorite" panose="00000500000000000000" pitchFamily="2" charset="0"/>
                        </a:rPr>
                        <a:t>Rebuild file ingestion in AEP, including file validation, scheduling, error handling and reconciliation.</a:t>
                      </a: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>
                          <a:effectLst/>
                          <a:latin typeface="Tenorite" panose="00000500000000000000" pitchFamily="2" charset="0"/>
                        </a:rPr>
                        <a:t>Medium</a:t>
                      </a:r>
                      <a:endParaRPr lang="en-US" sz="950" b="1" i="0" u="none" strike="noStrike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extLst>
                  <a:ext uri="{0D108BD9-81ED-4DB2-BD59-A6C34878D82A}">
                    <a16:rowId xmlns:a16="http://schemas.microsoft.com/office/drawing/2014/main" val="1520559931"/>
                  </a:ext>
                </a:extLst>
              </a:tr>
              <a:tr h="2552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Database links</a:t>
                      </a:r>
                      <a:endParaRPr lang="en-US" sz="950" b="1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To be confirmed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MIS directly reads data from selected Oracle databases through database links.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Identify every database link and replace it with an approved AEP ingestion method.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High</a:t>
                      </a:r>
                      <a:endParaRPr lang="en-US" sz="950" b="1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452312"/>
                  </a:ext>
                </a:extLst>
              </a:tr>
              <a:tr h="3710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>
                          <a:effectLst/>
                          <a:latin typeface="Tenorite" panose="00000500000000000000" pitchFamily="2" charset="0"/>
                        </a:rPr>
                        <a:t>Oracle GoldenGate</a:t>
                      </a:r>
                      <a:endParaRPr lang="en-US" sz="950" b="1" i="0" u="none" strike="noStrike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150 feeds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>
                          <a:effectLst/>
                          <a:latin typeface="Tenorite" panose="00000500000000000000" pitchFamily="2" charset="0"/>
                        </a:rPr>
                        <a:t>GoldenGate continuously or periodically replicates source-system data into MIS.</a:t>
                      </a: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>
                          <a:effectLst/>
                          <a:latin typeface="Tenorite" panose="00000500000000000000" pitchFamily="2" charset="0"/>
                        </a:rPr>
                        <a:t>Map replicated tables to AEP, configure new replication routes and validate data consistency.</a:t>
                      </a: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>
                          <a:effectLst/>
                          <a:latin typeface="Tenorite" panose="00000500000000000000" pitchFamily="2" charset="0"/>
                        </a:rPr>
                        <a:t>High</a:t>
                      </a:r>
                      <a:endParaRPr lang="en-US" sz="950" b="1" i="0" u="none" strike="noStrike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extLst>
                  <a:ext uri="{0D108BD9-81ED-4DB2-BD59-A6C34878D82A}">
                    <a16:rowId xmlns:a16="http://schemas.microsoft.com/office/drawing/2014/main" val="610793661"/>
                  </a:ext>
                </a:extLst>
              </a:tr>
              <a:tr h="2552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MIS processing</a:t>
                      </a:r>
                      <a:endParaRPr lang="en-US" sz="950" b="1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To be assessed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Procedures, ETL jobs and scheduled processes apply transformations and business rules.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Rebuild, optimize or retire the processing logic in AEP.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High</a:t>
                      </a:r>
                      <a:endParaRPr lang="en-US" sz="950" b="1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005313"/>
                  </a:ext>
                </a:extLst>
              </a:tr>
              <a:tr h="2552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>
                          <a:effectLst/>
                          <a:latin typeface="Tenorite" panose="00000500000000000000" pitchFamily="2" charset="0"/>
                        </a:rPr>
                        <a:t>Reporting layer</a:t>
                      </a:r>
                      <a:endParaRPr lang="en-US" sz="950" b="1" i="0" u="none" strike="noStrike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>
                          <a:effectLst/>
                          <a:latin typeface="Tenorite" panose="00000500000000000000" pitchFamily="2" charset="0"/>
                        </a:rPr>
                        <a:t>To be assessed</a:t>
                      </a:r>
                      <a:endParaRPr lang="en-US" sz="950" b="0" i="0" u="none" strike="noStrike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Qlik QVFs, dashboards, reports, APIs and applications consume data from MIS.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Redirect consumers to AEP after data validation and business acceptance.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>
                          <a:effectLst/>
                          <a:latin typeface="Tenorite" panose="00000500000000000000" pitchFamily="2" charset="0"/>
                        </a:rPr>
                        <a:t>High</a:t>
                      </a:r>
                      <a:endParaRPr lang="en-US" sz="950" b="1" i="0" u="none" strike="noStrike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/>
                </a:tc>
                <a:extLst>
                  <a:ext uri="{0D108BD9-81ED-4DB2-BD59-A6C34878D82A}">
                    <a16:rowId xmlns:a16="http://schemas.microsoft.com/office/drawing/2014/main" val="1052851091"/>
                  </a:ext>
                </a:extLst>
              </a:tr>
              <a:tr h="2552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Historical data</a:t>
                      </a:r>
                      <a:endParaRPr lang="en-US" sz="950" b="1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To be assessed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MIS stores historical information required for reporting, audit and analysis.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Decide what history to migrate, archive or retain temporarily.</a:t>
                      </a:r>
                      <a:endParaRPr 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50" u="none" strike="noStrike" dirty="0">
                          <a:effectLst/>
                          <a:latin typeface="Tenorite" panose="00000500000000000000" pitchFamily="2" charset="0"/>
                        </a:rPr>
                        <a:t>Medium to High</a:t>
                      </a:r>
                      <a:endParaRPr lang="en-US" sz="950" b="1" i="0" u="none" strike="noStrike" dirty="0">
                        <a:solidFill>
                          <a:srgbClr val="000000"/>
                        </a:solidFill>
                        <a:effectLst/>
                        <a:latin typeface="Tenorite" panose="00000500000000000000" pitchFamily="2" charset="0"/>
                      </a:endParaRPr>
                    </a:p>
                  </a:txBody>
                  <a:tcPr marL="5317" marR="5317" marT="5317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310550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3FD14E-8923-0DB7-0436-0685A42B5B63}"/>
              </a:ext>
            </a:extLst>
          </p:cNvPr>
          <p:cNvCxnSpPr/>
          <p:nvPr/>
        </p:nvCxnSpPr>
        <p:spPr>
          <a:xfrm>
            <a:off x="0" y="4788275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0575E5"/>
                </a:gs>
                <a:gs pos="100000">
                  <a:srgbClr val="00F26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5C5806B3-D79F-4C83-24C7-72DD37C485EE}"/>
              </a:ext>
            </a:extLst>
          </p:cNvPr>
          <p:cNvSpPr txBox="1">
            <a:spLocks/>
          </p:cNvSpPr>
          <p:nvPr/>
        </p:nvSpPr>
        <p:spPr>
          <a:xfrm>
            <a:off x="4627143" y="4839800"/>
            <a:ext cx="3154766" cy="2631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Driving </a:t>
            </a:r>
            <a:r>
              <a:rPr kumimoji="0" lang="en-MY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Success </a:t>
            </a: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through </a:t>
            </a:r>
            <a:r>
              <a:rPr kumimoji="0" lang="en-MY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TEAMs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(Transformation, Engagement &amp; Efficiency, Agility, Modernization)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70952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494E9C-A854-D119-7B05-D3E60430E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233" y="4817069"/>
            <a:ext cx="938446" cy="30861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FDF0125-A0FC-4BC1-92FA-CE5D352BCDE3}"/>
              </a:ext>
            </a:extLst>
          </p:cNvPr>
          <p:cNvSpPr txBox="1">
            <a:spLocks/>
          </p:cNvSpPr>
          <p:nvPr/>
        </p:nvSpPr>
        <p:spPr>
          <a:xfrm>
            <a:off x="2185838" y="4825950"/>
            <a:ext cx="2286000" cy="2908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Deliver Trusted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&amp;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Innovative</a:t>
            </a:r>
            <a:b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</a:b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Digital Services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 for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Everyone.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ABFC9D8-9166-BF1A-4E98-EDB37B7B3AC2}"/>
              </a:ext>
            </a:extLst>
          </p:cNvPr>
          <p:cNvSpPr txBox="1">
            <a:spLocks/>
          </p:cNvSpPr>
          <p:nvPr/>
        </p:nvSpPr>
        <p:spPr>
          <a:xfrm>
            <a:off x="8293" y="4881349"/>
            <a:ext cx="2286000" cy="1800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23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Information Technology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0D93D1-70A6-BB20-4AF7-CDA4505253C6}"/>
              </a:ext>
            </a:extLst>
          </p:cNvPr>
          <p:cNvSpPr txBox="1"/>
          <p:nvPr/>
        </p:nvSpPr>
        <p:spPr>
          <a:xfrm>
            <a:off x="493868" y="546758"/>
            <a:ext cx="62639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000" b="1" dirty="0">
                <a:solidFill>
                  <a:prstClr val="black"/>
                </a:solidFill>
                <a:latin typeface="Tenorite" panose="00000500000000000000" pitchFamily="2" charset="0"/>
              </a:rPr>
              <a:t>Current MIS Architecture and Migration Complexity</a:t>
            </a:r>
          </a:p>
        </p:txBody>
      </p:sp>
    </p:spTree>
    <p:extLst>
      <p:ext uri="{BB962C8B-B14F-4D97-AF65-F5344CB8AC3E}">
        <p14:creationId xmlns:p14="http://schemas.microsoft.com/office/powerpoint/2010/main" val="645822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8">
            <a:extLst>
              <a:ext uri="{FF2B5EF4-FFF2-40B4-BE49-F238E27FC236}">
                <a16:creationId xmlns:a16="http://schemas.microsoft.com/office/drawing/2014/main" id="{ED8BC827-012A-D429-428B-F0515F3E9ACE}"/>
              </a:ext>
            </a:extLst>
          </p:cNvPr>
          <p:cNvSpPr/>
          <p:nvPr/>
        </p:nvSpPr>
        <p:spPr>
          <a:xfrm>
            <a:off x="1450839" y="1996481"/>
            <a:ext cx="1176833" cy="2756916"/>
          </a:xfrm>
          <a:prstGeom prst="rect">
            <a:avLst/>
          </a:prstGeom>
          <a:solidFill>
            <a:srgbClr val="FFFFFF"/>
          </a:solidFill>
          <a:ln w="12700">
            <a:solidFill>
              <a:srgbClr val="143C64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343213" y="550315"/>
            <a:ext cx="61722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000" b="1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MIS to AEP Migration</a:t>
            </a:r>
            <a:endParaRPr lang="en-US" sz="20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2958" y="234847"/>
            <a:ext cx="40641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00" dirty="0">
                <a:solidFill>
                  <a:srgbClr val="5B6B8C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High Level Technical Migration Plan - Oracle MIS → AEP  |  ~24 Weeks</a:t>
            </a:r>
            <a:endParaRPr lang="en-US" sz="10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9164" y="1111027"/>
            <a:ext cx="1176833" cy="0"/>
          </a:xfrm>
          <a:prstGeom prst="line">
            <a:avLst/>
          </a:prstGeom>
          <a:noFill/>
          <a:ln w="38100">
            <a:solidFill>
              <a:srgbClr val="143C64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97" y="1021873"/>
            <a:ext cx="185166" cy="185166"/>
          </a:xfrm>
          <a:prstGeom prst="ellipse">
            <a:avLst/>
          </a:prstGeom>
          <a:solidFill>
            <a:srgbClr val="143C6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94997" y="1021873"/>
            <a:ext cx="18516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88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1</a:t>
            </a:r>
            <a:endParaRPr lang="en-US" sz="788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2901" y="1253542"/>
            <a:ext cx="1176833" cy="740664"/>
          </a:xfrm>
          <a:prstGeom prst="rect">
            <a:avLst/>
          </a:prstGeom>
          <a:solidFill>
            <a:srgbClr val="143C64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1481" y="1294690"/>
            <a:ext cx="103967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Assessment &amp;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1481" y="1788466"/>
            <a:ext cx="10396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i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~3 weeks</a:t>
            </a:r>
            <a:endParaRPr lang="en-US" sz="9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92901" y="1994206"/>
            <a:ext cx="1176833" cy="2756916"/>
          </a:xfrm>
          <a:prstGeom prst="rect">
            <a:avLst/>
          </a:prstGeom>
          <a:solidFill>
            <a:srgbClr val="FFFFFF"/>
          </a:solidFill>
          <a:ln w="12700">
            <a:solidFill>
              <a:srgbClr val="143C64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2055" y="2186230"/>
            <a:ext cx="68580" cy="68580"/>
          </a:xfrm>
          <a:prstGeom prst="ellipse">
            <a:avLst/>
          </a:prstGeom>
          <a:solidFill>
            <a:srgbClr val="143C64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2357" y="2090218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Assess data volume, growth, history &amp; retention requirements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82055" y="2796592"/>
            <a:ext cx="68580" cy="68580"/>
          </a:xfrm>
          <a:prstGeom prst="ellipse">
            <a:avLst/>
          </a:prstGeom>
          <a:solidFill>
            <a:srgbClr val="143C64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2357" y="2700580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Assess data quality &amp; known reconciliation issues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82055" y="3406954"/>
            <a:ext cx="68580" cy="68580"/>
          </a:xfrm>
          <a:prstGeom prst="ellipse">
            <a:avLst/>
          </a:prstGeom>
          <a:solidFill>
            <a:srgbClr val="143C64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2357" y="3310942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Define scope, RACI &amp; success KPIs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2055" y="4017316"/>
            <a:ext cx="68580" cy="68580"/>
          </a:xfrm>
          <a:prstGeom prst="ellipse">
            <a:avLst/>
          </a:prstGeom>
          <a:solidFill>
            <a:srgbClr val="143C64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2357" y="3921304"/>
            <a:ext cx="957376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Estimate AEP capacity, infrastructure &amp; license requirements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460350" y="1111027"/>
            <a:ext cx="1176833" cy="0"/>
          </a:xfrm>
          <a:prstGeom prst="line">
            <a:avLst/>
          </a:prstGeom>
          <a:noFill/>
          <a:ln w="38100">
            <a:solidFill>
              <a:srgbClr val="1B6E96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956184" y="1021873"/>
            <a:ext cx="185166" cy="185166"/>
          </a:xfrm>
          <a:prstGeom prst="ellipse">
            <a:avLst/>
          </a:prstGeom>
          <a:solidFill>
            <a:srgbClr val="1B6E9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956184" y="1021873"/>
            <a:ext cx="18516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88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2</a:t>
            </a:r>
            <a:endParaRPr lang="en-US" sz="788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454087" y="1253542"/>
            <a:ext cx="1176833" cy="740664"/>
          </a:xfrm>
          <a:prstGeom prst="rect">
            <a:avLst/>
          </a:prstGeom>
          <a:solidFill>
            <a:srgbClr val="1B6E96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22667" y="1294690"/>
            <a:ext cx="103967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Data Analysis &amp;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522667" y="1788466"/>
            <a:ext cx="10396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i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~5 weeks</a:t>
            </a:r>
            <a:endParaRPr lang="en-US" sz="9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543242" y="2186230"/>
            <a:ext cx="68580" cy="68580"/>
          </a:xfrm>
          <a:prstGeom prst="ellipse">
            <a:avLst/>
          </a:prstGeom>
          <a:solidFill>
            <a:srgbClr val="1B6E96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73543" y="2090218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Map Oracle tables and views to AEP Vertica entities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543242" y="2796592"/>
            <a:ext cx="68580" cy="68580"/>
          </a:xfrm>
          <a:prstGeom prst="ellipse">
            <a:avLst/>
          </a:prstGeom>
          <a:solidFill>
            <a:srgbClr val="1B6E96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673543" y="2700580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Identify table, job and report dependencies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543242" y="3406954"/>
            <a:ext cx="68580" cy="68580"/>
          </a:xfrm>
          <a:prstGeom prst="ellipse">
            <a:avLst/>
          </a:prstGeom>
          <a:solidFill>
            <a:srgbClr val="1B6E96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673543" y="3310942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Identify duplicate and obsolete data objects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21536" y="1111027"/>
            <a:ext cx="1176833" cy="0"/>
          </a:xfrm>
          <a:prstGeom prst="line">
            <a:avLst/>
          </a:prstGeom>
          <a:noFill/>
          <a:ln w="38100">
            <a:solidFill>
              <a:srgbClr val="1E9BD7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17370" y="1021873"/>
            <a:ext cx="185166" cy="185166"/>
          </a:xfrm>
          <a:prstGeom prst="ellipse">
            <a:avLst/>
          </a:prstGeom>
          <a:solidFill>
            <a:srgbClr val="1E9BD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17370" y="1021873"/>
            <a:ext cx="18516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88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3</a:t>
            </a:r>
            <a:endParaRPr lang="en-US" sz="788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15273" y="1253542"/>
            <a:ext cx="1176833" cy="740664"/>
          </a:xfrm>
          <a:prstGeom prst="rect">
            <a:avLst/>
          </a:prstGeom>
          <a:solidFill>
            <a:srgbClr val="1E9BD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783853" y="1294690"/>
            <a:ext cx="103967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783853" y="1788466"/>
            <a:ext cx="10396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i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~5 weeks</a:t>
            </a:r>
            <a:endParaRPr lang="en-US" sz="9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715273" y="1994206"/>
            <a:ext cx="1176833" cy="2756916"/>
          </a:xfrm>
          <a:prstGeom prst="rect">
            <a:avLst/>
          </a:prstGeom>
          <a:solidFill>
            <a:srgbClr val="FFFFFF"/>
          </a:solidFill>
          <a:ln w="12700">
            <a:solidFill>
              <a:srgbClr val="1E9BD7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804427" y="2186230"/>
            <a:ext cx="68580" cy="68580"/>
          </a:xfrm>
          <a:prstGeom prst="ellipse">
            <a:avLst/>
          </a:prstGeom>
          <a:solidFill>
            <a:srgbClr val="1E9BD7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934729" y="2090218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APIs, file interfaces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804427" y="2796592"/>
            <a:ext cx="68580" cy="68580"/>
          </a:xfrm>
          <a:prstGeom prst="ellipse">
            <a:avLst/>
          </a:prstGeom>
          <a:solidFill>
            <a:srgbClr val="1E9BD7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934729" y="2700580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Database tables, materialized views &amp; stored procedures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804427" y="3406954"/>
            <a:ext cx="68580" cy="68580"/>
          </a:xfrm>
          <a:prstGeom prst="ellipse">
            <a:avLst/>
          </a:prstGeom>
          <a:solidFill>
            <a:srgbClr val="1E9BD7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934729" y="3310942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cs typeface="Arial" pitchFamily="34" charset="-120"/>
              </a:rPr>
              <a:t>Migrate </a:t>
            </a:r>
            <a:r>
              <a:rPr lang="en-US" sz="800" dirty="0">
                <a:latin typeface="Tenorite" panose="00000500000000000000" pitchFamily="2" charset="0"/>
              </a:rPr>
              <a:t>Historical data required for reporting, audit and regulatory purposes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982723" y="1111027"/>
            <a:ext cx="1176833" cy="0"/>
          </a:xfrm>
          <a:prstGeom prst="line">
            <a:avLst/>
          </a:prstGeom>
          <a:noFill/>
          <a:ln w="38100">
            <a:solidFill>
              <a:srgbClr val="00AEB3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478556" y="1021873"/>
            <a:ext cx="185166" cy="185166"/>
          </a:xfrm>
          <a:prstGeom prst="ellipse">
            <a:avLst/>
          </a:prstGeom>
          <a:solidFill>
            <a:srgbClr val="00AEB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478556" y="1021873"/>
            <a:ext cx="18516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88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4</a:t>
            </a:r>
            <a:endParaRPr lang="en-US" sz="788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976460" y="1253542"/>
            <a:ext cx="1176833" cy="740664"/>
          </a:xfrm>
          <a:prstGeom prst="rect">
            <a:avLst/>
          </a:prstGeom>
          <a:solidFill>
            <a:srgbClr val="00AEB3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045040" y="1294690"/>
            <a:ext cx="103967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ts val="1050"/>
              </a:lnSpc>
            </a:pP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045040" y="1788466"/>
            <a:ext cx="10396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i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~6 weeks</a:t>
            </a:r>
            <a:endParaRPr lang="en-US" sz="9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976460" y="1994206"/>
            <a:ext cx="1176833" cy="27569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AEB3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065614" y="2186230"/>
            <a:ext cx="68580" cy="68580"/>
          </a:xfrm>
          <a:prstGeom prst="ellipse">
            <a:avLst/>
          </a:prstGeom>
          <a:solidFill>
            <a:srgbClr val="00AEB3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195916" y="2090218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Source-system data feeds and ingestion processes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065614" y="2796592"/>
            <a:ext cx="68580" cy="68580"/>
          </a:xfrm>
          <a:prstGeom prst="ellipse">
            <a:avLst/>
          </a:prstGeom>
          <a:solidFill>
            <a:srgbClr val="00AEB3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195916" y="2700580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ETL jobs, scheduled processes and data transformations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065614" y="3406954"/>
            <a:ext cx="68580" cy="68580"/>
          </a:xfrm>
          <a:prstGeom prst="ellipse">
            <a:avLst/>
          </a:prstGeom>
          <a:solidFill>
            <a:srgbClr val="00AEB3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195916" y="3310942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Application integrations connected to MIS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4065614" y="4017316"/>
            <a:ext cx="68580" cy="68580"/>
          </a:xfrm>
          <a:prstGeom prst="ellipse">
            <a:avLst/>
          </a:prstGeom>
          <a:solidFill>
            <a:srgbClr val="00AEB3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195916" y="3921304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Tune AEP DB query &amp; refresh performance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243908" y="1111027"/>
            <a:ext cx="1176833" cy="0"/>
          </a:xfrm>
          <a:prstGeom prst="line">
            <a:avLst/>
          </a:prstGeom>
          <a:noFill/>
          <a:ln w="38100">
            <a:solidFill>
              <a:srgbClr val="00B08A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739743" y="1021873"/>
            <a:ext cx="185166" cy="185166"/>
          </a:xfrm>
          <a:prstGeom prst="ellipse">
            <a:avLst/>
          </a:prstGeom>
          <a:solidFill>
            <a:srgbClr val="00B08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739743" y="1021873"/>
            <a:ext cx="18516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88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5</a:t>
            </a:r>
            <a:endParaRPr lang="en-US" sz="788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237645" y="1253542"/>
            <a:ext cx="1176833" cy="740664"/>
          </a:xfrm>
          <a:prstGeom prst="rect">
            <a:avLst/>
          </a:prstGeom>
          <a:solidFill>
            <a:srgbClr val="00B08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5306225" y="1294690"/>
            <a:ext cx="103967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Testing &amp;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5306225" y="1788466"/>
            <a:ext cx="10396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i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~3 weeks</a:t>
            </a:r>
            <a:endParaRPr lang="en-US" sz="9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5237645" y="1994206"/>
            <a:ext cx="1176833" cy="27569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8A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326800" y="2186230"/>
            <a:ext cx="68580" cy="68580"/>
          </a:xfrm>
          <a:prstGeom prst="ellipse">
            <a:avLst/>
          </a:prstGeom>
          <a:solidFill>
            <a:srgbClr val="00B08A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5457101" y="2090218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MIS vs AEP data reconciliation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5326800" y="2796592"/>
            <a:ext cx="68580" cy="68580"/>
          </a:xfrm>
          <a:prstGeom prst="ellipse">
            <a:avLst/>
          </a:prstGeom>
          <a:solidFill>
            <a:srgbClr val="00B08A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5457101" y="2700580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SIT: ETL pipeline &amp; integration tests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5326800" y="3406954"/>
            <a:ext cx="68580" cy="68580"/>
          </a:xfrm>
          <a:prstGeom prst="ellipse">
            <a:avLst/>
          </a:prstGeom>
          <a:solidFill>
            <a:srgbClr val="00B08A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5457101" y="3310942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UAT: </a:t>
            </a:r>
            <a:r>
              <a:rPr lang="en-US" sz="800" dirty="0">
                <a:latin typeface="Tenorite" panose="00000500000000000000" pitchFamily="2" charset="0"/>
              </a:rPr>
              <a:t>Data counts, and business rules are reconciled and signed off.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5326800" y="4017316"/>
            <a:ext cx="68580" cy="68580"/>
          </a:xfrm>
          <a:prstGeom prst="ellipse">
            <a:avLst/>
          </a:prstGeom>
          <a:solidFill>
            <a:srgbClr val="00B08A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5457101" y="3921304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Performance &amp; load testing on AEP DB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6505095" y="1111027"/>
            <a:ext cx="1176833" cy="0"/>
          </a:xfrm>
          <a:prstGeom prst="line">
            <a:avLst/>
          </a:prstGeom>
          <a:noFill/>
          <a:ln w="38100">
            <a:solidFill>
              <a:srgbClr val="2E9B4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000928" y="1021873"/>
            <a:ext cx="185166" cy="185166"/>
          </a:xfrm>
          <a:prstGeom prst="ellipse">
            <a:avLst/>
          </a:prstGeom>
          <a:solidFill>
            <a:srgbClr val="2E9B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7000928" y="1021873"/>
            <a:ext cx="18516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88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6</a:t>
            </a:r>
            <a:endParaRPr lang="en-US" sz="788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6498832" y="1253542"/>
            <a:ext cx="1176833" cy="740664"/>
          </a:xfrm>
          <a:prstGeom prst="rect">
            <a:avLst/>
          </a:prstGeom>
          <a:solidFill>
            <a:srgbClr val="2E9B4F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567412" y="1294690"/>
            <a:ext cx="103967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Deployment &amp;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567412" y="1788466"/>
            <a:ext cx="10396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i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~2 weeks</a:t>
            </a:r>
            <a:endParaRPr lang="en-US" sz="9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6498832" y="1994206"/>
            <a:ext cx="1176833" cy="2756916"/>
          </a:xfrm>
          <a:prstGeom prst="rect">
            <a:avLst/>
          </a:prstGeom>
          <a:solidFill>
            <a:srgbClr val="FFFFFF"/>
          </a:solidFill>
          <a:ln w="12700">
            <a:solidFill>
              <a:srgbClr val="2E9B4F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6587986" y="2186230"/>
            <a:ext cx="68580" cy="68580"/>
          </a:xfrm>
          <a:prstGeom prst="ellipse">
            <a:avLst/>
          </a:prstGeom>
          <a:solidFill>
            <a:srgbClr val="2E9B4F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6718288" y="2090218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Production cutover of GoldenGate/ETL pipelines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6587986" y="2796592"/>
            <a:ext cx="68580" cy="68580"/>
          </a:xfrm>
          <a:prstGeom prst="ellipse">
            <a:avLst/>
          </a:prstGeom>
          <a:solidFill>
            <a:srgbClr val="2E9B4F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6718288" y="2700580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Deploy newly developed AEP reports/dashboards to production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6587986" y="3406954"/>
            <a:ext cx="68580" cy="68580"/>
          </a:xfrm>
          <a:prstGeom prst="ellipse">
            <a:avLst/>
          </a:prstGeom>
          <a:solidFill>
            <a:srgbClr val="2E9B4F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6718288" y="3310942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Parallel run: legacy MIS + </a:t>
            </a:r>
            <a:r>
              <a:rPr lang="en-US" sz="800" dirty="0" err="1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AEPside</a:t>
            </a: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-by-side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6587986" y="4017316"/>
            <a:ext cx="68580" cy="68580"/>
          </a:xfrm>
          <a:prstGeom prst="ellipse">
            <a:avLst/>
          </a:prstGeom>
          <a:solidFill>
            <a:srgbClr val="2E9B4F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6718288" y="3921304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Final cutover; decommission Oracle MIS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7766281" y="1111027"/>
            <a:ext cx="1176833" cy="0"/>
          </a:xfrm>
          <a:prstGeom prst="line">
            <a:avLst/>
          </a:prstGeom>
          <a:noFill/>
          <a:ln w="38100">
            <a:solidFill>
              <a:srgbClr val="5FA82C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8262115" y="1021873"/>
            <a:ext cx="185166" cy="185166"/>
          </a:xfrm>
          <a:prstGeom prst="ellipse">
            <a:avLst/>
          </a:prstGeom>
          <a:solidFill>
            <a:srgbClr val="5FA82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8262115" y="1021873"/>
            <a:ext cx="18516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88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7</a:t>
            </a:r>
            <a:endParaRPr lang="en-US" sz="788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7760018" y="1253542"/>
            <a:ext cx="1176833" cy="740664"/>
          </a:xfrm>
          <a:prstGeom prst="rect">
            <a:avLst/>
          </a:prstGeom>
          <a:solidFill>
            <a:srgbClr val="5FA82C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7828598" y="1294690"/>
            <a:ext cx="103967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Post Go-Live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  <a:p>
            <a:pPr algn="ctr" defTabSz="685800">
              <a:lnSpc>
                <a:spcPts val="1050"/>
              </a:lnSpc>
            </a:pPr>
            <a:r>
              <a:rPr lang="en-US" sz="1100" b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1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7828598" y="1788466"/>
            <a:ext cx="10396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i="1" dirty="0">
                <a:solidFill>
                  <a:srgbClr val="FFFFFF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9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760018" y="1994206"/>
            <a:ext cx="1176833" cy="2756916"/>
          </a:xfrm>
          <a:prstGeom prst="rect">
            <a:avLst/>
          </a:prstGeom>
          <a:solidFill>
            <a:srgbClr val="FFFFFF"/>
          </a:solidFill>
          <a:ln w="12700">
            <a:solidFill>
              <a:srgbClr val="5FA82C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7849173" y="2186230"/>
            <a:ext cx="68580" cy="68580"/>
          </a:xfrm>
          <a:prstGeom prst="ellipse">
            <a:avLst/>
          </a:prstGeom>
          <a:solidFill>
            <a:srgbClr val="5FA82C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7979474" y="2090218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Monitor pipeline jobs, AEP DB perf &amp; SLAs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7849173" y="2796592"/>
            <a:ext cx="68580" cy="68580"/>
          </a:xfrm>
          <a:prstGeom prst="ellipse">
            <a:avLst/>
          </a:prstGeom>
          <a:solidFill>
            <a:srgbClr val="5FA82C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7979474" y="2700580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L1/L2 triage of residual Oracle 11g defects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7849173" y="3406954"/>
            <a:ext cx="68580" cy="68580"/>
          </a:xfrm>
          <a:prstGeom prst="ellipse">
            <a:avLst/>
          </a:prstGeom>
          <a:solidFill>
            <a:srgbClr val="5FA82C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7979474" y="3335994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User training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7849173" y="4017316"/>
            <a:ext cx="68580" cy="68580"/>
          </a:xfrm>
          <a:prstGeom prst="ellipse">
            <a:avLst/>
          </a:prstGeom>
          <a:solidFill>
            <a:srgbClr val="5FA82C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7979474" y="3921304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780"/>
              </a:lnSpc>
            </a:pPr>
            <a:r>
              <a:rPr lang="en-US" sz="800" dirty="0">
                <a:solidFill>
                  <a:srgbClr val="1B1F2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Continuous optimisation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CBB2B43-C0BE-215C-20EC-B8DCBD61320F}"/>
              </a:ext>
            </a:extLst>
          </p:cNvPr>
          <p:cNvCxnSpPr/>
          <p:nvPr/>
        </p:nvCxnSpPr>
        <p:spPr>
          <a:xfrm>
            <a:off x="0" y="4794190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0575E5"/>
                </a:gs>
                <a:gs pos="100000">
                  <a:srgbClr val="00F26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Subtitle 2">
            <a:extLst>
              <a:ext uri="{FF2B5EF4-FFF2-40B4-BE49-F238E27FC236}">
                <a16:creationId xmlns:a16="http://schemas.microsoft.com/office/drawing/2014/main" id="{993C8710-63EC-6510-D1BA-7C4404AE6DC1}"/>
              </a:ext>
            </a:extLst>
          </p:cNvPr>
          <p:cNvSpPr txBox="1">
            <a:spLocks/>
          </p:cNvSpPr>
          <p:nvPr/>
        </p:nvSpPr>
        <p:spPr>
          <a:xfrm>
            <a:off x="4627143" y="4839800"/>
            <a:ext cx="3154766" cy="2631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MY" sz="800">
                <a:solidFill>
                  <a:srgbClr val="222222"/>
                </a:solidFill>
                <a:latin typeface="Tenorite" panose="00000500000000000000" pitchFamily="2" charset="0"/>
              </a:rPr>
              <a:t>Driving </a:t>
            </a:r>
            <a:r>
              <a:rPr lang="en-MY" sz="800" b="1">
                <a:solidFill>
                  <a:srgbClr val="222222"/>
                </a:solidFill>
                <a:latin typeface="Tenorite" panose="00000500000000000000" pitchFamily="2" charset="0"/>
              </a:rPr>
              <a:t>Success </a:t>
            </a:r>
            <a:r>
              <a:rPr lang="en-MY" sz="800">
                <a:solidFill>
                  <a:srgbClr val="222222"/>
                </a:solidFill>
                <a:latin typeface="Tenorite" panose="00000500000000000000" pitchFamily="2" charset="0"/>
              </a:rPr>
              <a:t>through </a:t>
            </a:r>
            <a:r>
              <a:rPr lang="en-MY" sz="800" b="1">
                <a:solidFill>
                  <a:srgbClr val="222222"/>
                </a:solidFill>
                <a:latin typeface="Tenorite" panose="00000500000000000000" pitchFamily="2" charset="0"/>
              </a:rPr>
              <a:t>TEAMs</a:t>
            </a:r>
            <a:br>
              <a:rPr lang="en-US" sz="80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</a:br>
            <a:r>
              <a:rPr lang="en-US" sz="60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(Transformation, Engagement &amp; Efficiency, Agility, Modernization)</a:t>
            </a:r>
            <a:endParaRPr lang="en-US" sz="600">
              <a:solidFill>
                <a:srgbClr val="070952"/>
              </a:solidFill>
              <a:latin typeface="Tenorite" panose="00000500000000000000" pitchFamily="2" charset="0"/>
            </a:endParaRP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C97D8DA3-447B-2F68-A78D-6F873B811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170" y="4817069"/>
            <a:ext cx="988246" cy="308610"/>
          </a:xfrm>
          <a:prstGeom prst="rect">
            <a:avLst/>
          </a:prstGeom>
        </p:spPr>
      </p:pic>
      <p:sp>
        <p:nvSpPr>
          <p:cNvPr id="113" name="Subtitle 2">
            <a:extLst>
              <a:ext uri="{FF2B5EF4-FFF2-40B4-BE49-F238E27FC236}">
                <a16:creationId xmlns:a16="http://schemas.microsoft.com/office/drawing/2014/main" id="{1DDB8988-2FAD-4BD4-1551-BC4D333755F2}"/>
              </a:ext>
            </a:extLst>
          </p:cNvPr>
          <p:cNvSpPr txBox="1">
            <a:spLocks/>
          </p:cNvSpPr>
          <p:nvPr/>
        </p:nvSpPr>
        <p:spPr>
          <a:xfrm>
            <a:off x="2185838" y="4825950"/>
            <a:ext cx="2286000" cy="2908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Deliver Trusted </a:t>
            </a:r>
            <a:r>
              <a:rPr lang="en-US" sz="800">
                <a:solidFill>
                  <a:srgbClr val="222222"/>
                </a:solidFill>
                <a:latin typeface="Tenorite" panose="00000500000000000000" pitchFamily="2" charset="0"/>
              </a:rPr>
              <a:t>&amp; </a:t>
            </a: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Innovative</a:t>
            </a:r>
            <a:b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</a:br>
            <a:r>
              <a:rPr lang="en-US" sz="800" b="1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Digital Services</a:t>
            </a:r>
            <a:r>
              <a:rPr lang="en-US" sz="800">
                <a:solidFill>
                  <a:srgbClr val="222222"/>
                </a:solidFill>
                <a:latin typeface="Tenorite" panose="00000500000000000000" pitchFamily="2" charset="0"/>
              </a:rPr>
              <a:t> for </a:t>
            </a:r>
            <a:r>
              <a:rPr lang="en-US" sz="800" b="1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Everyone.</a:t>
            </a:r>
            <a:endParaRPr lang="en-US" sz="800"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latin typeface="Tenorite" panose="00000500000000000000" pitchFamily="2" charset="0"/>
            </a:endParaRPr>
          </a:p>
        </p:txBody>
      </p:sp>
      <p:sp>
        <p:nvSpPr>
          <p:cNvPr id="114" name="Subtitle 2">
            <a:extLst>
              <a:ext uri="{FF2B5EF4-FFF2-40B4-BE49-F238E27FC236}">
                <a16:creationId xmlns:a16="http://schemas.microsoft.com/office/drawing/2014/main" id="{26F2C6C0-C9E7-6341-52A3-9D322DD36D28}"/>
              </a:ext>
            </a:extLst>
          </p:cNvPr>
          <p:cNvSpPr txBox="1">
            <a:spLocks/>
          </p:cNvSpPr>
          <p:nvPr/>
        </p:nvSpPr>
        <p:spPr>
          <a:xfrm>
            <a:off x="8293" y="4881349"/>
            <a:ext cx="2286000" cy="1800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Information Technology</a:t>
            </a:r>
            <a:endParaRPr lang="en-US" sz="800"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latin typeface="Tenorite" panose="00000500000000000000" pitchFamily="2" charset="0"/>
            </a:endParaRPr>
          </a:p>
        </p:txBody>
      </p:sp>
      <p:sp>
        <p:nvSpPr>
          <p:cNvPr id="120" name="Shape 0">
            <a:extLst>
              <a:ext uri="{FF2B5EF4-FFF2-40B4-BE49-F238E27FC236}">
                <a16:creationId xmlns:a16="http://schemas.microsoft.com/office/drawing/2014/main" id="{7AAC61C4-7ABD-AF89-2E54-87C8CC0A670E}"/>
              </a:ext>
            </a:extLst>
          </p:cNvPr>
          <p:cNvSpPr/>
          <p:nvPr/>
        </p:nvSpPr>
        <p:spPr>
          <a:xfrm>
            <a:off x="347472" y="182880"/>
            <a:ext cx="457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>
              <a:latin typeface="Tenorite" panose="00000500000000000000" pitchFamily="2" charset="0"/>
            </a:endParaRPr>
          </a:p>
        </p:txBody>
      </p:sp>
      <p:pic>
        <p:nvPicPr>
          <p:cNvPr id="115" name="Picture 114" descr="Logo&#10;&#10;Description automatically generated">
            <a:extLst>
              <a:ext uri="{FF2B5EF4-FFF2-40B4-BE49-F238E27FC236}">
                <a16:creationId xmlns:a16="http://schemas.microsoft.com/office/drawing/2014/main" id="{C382192D-CC38-4B86-B700-F255DB4DF2C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323" t="26205" r="8720" b="26872"/>
          <a:stretch/>
        </p:blipFill>
        <p:spPr>
          <a:xfrm>
            <a:off x="8633689" y="42335"/>
            <a:ext cx="457200" cy="448844"/>
          </a:xfrm>
          <a:prstGeom prst="rect">
            <a:avLst/>
          </a:prstGeom>
        </p:spPr>
      </p:pic>
      <p:sp>
        <p:nvSpPr>
          <p:cNvPr id="117" name="Shape 28">
            <a:extLst>
              <a:ext uri="{FF2B5EF4-FFF2-40B4-BE49-F238E27FC236}">
                <a16:creationId xmlns:a16="http://schemas.microsoft.com/office/drawing/2014/main" id="{7B69F492-59FB-90E6-ADF5-E6B085F37205}"/>
              </a:ext>
            </a:extLst>
          </p:cNvPr>
          <p:cNvSpPr/>
          <p:nvPr/>
        </p:nvSpPr>
        <p:spPr>
          <a:xfrm>
            <a:off x="1554558" y="3996042"/>
            <a:ext cx="68580" cy="68580"/>
          </a:xfrm>
          <a:prstGeom prst="ellipse">
            <a:avLst/>
          </a:prstGeom>
          <a:solidFill>
            <a:srgbClr val="1B6E96"/>
          </a:solidFill>
          <a:ln/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  <p:sp>
        <p:nvSpPr>
          <p:cNvPr id="119" name="Text 29">
            <a:extLst>
              <a:ext uri="{FF2B5EF4-FFF2-40B4-BE49-F238E27FC236}">
                <a16:creationId xmlns:a16="http://schemas.microsoft.com/office/drawing/2014/main" id="{A8F0BFAC-B86A-CE8E-3CB1-489D51B8690F}"/>
              </a:ext>
            </a:extLst>
          </p:cNvPr>
          <p:cNvSpPr/>
          <p:nvPr/>
        </p:nvSpPr>
        <p:spPr>
          <a:xfrm>
            <a:off x="1684859" y="3900030"/>
            <a:ext cx="8887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00000"/>
              </a:lnSpc>
            </a:pPr>
            <a:r>
              <a:rPr lang="en-US" sz="800" dirty="0">
                <a:latin typeface="Tenorite" panose="00000500000000000000" pitchFamily="2" charset="0"/>
              </a:rPr>
              <a:t>Map historical-data &amp; retention requirements</a:t>
            </a:r>
            <a:endParaRPr lang="en-US" sz="800" dirty="0">
              <a:solidFill>
                <a:prstClr val="black"/>
              </a:solidFill>
              <a:latin typeface="Tenorite" panose="000005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34924"/>
            <a:ext cx="82296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11418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Next Steps | Immediate Action Required</a:t>
            </a:r>
            <a:endParaRPr lang="en-US" sz="2000" dirty="0">
              <a:latin typeface="Tenorite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1264940"/>
            <a:ext cx="8606790" cy="75334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264940"/>
            <a:ext cx="68580" cy="753347"/>
          </a:xfrm>
          <a:prstGeom prst="rect">
            <a:avLst/>
          </a:prstGeom>
          <a:solidFill>
            <a:srgbClr val="1C7DA0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50" y="1367215"/>
            <a:ext cx="582930" cy="582930"/>
          </a:xfrm>
          <a:prstGeom prst="roundRect">
            <a:avLst>
              <a:gd name="adj" fmla="val 9412"/>
            </a:avLst>
          </a:prstGeom>
          <a:solidFill>
            <a:srgbClr val="1C7DA0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1510" y="1518091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2386" y="1490659"/>
            <a:ext cx="123444" cy="1234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39546" y="1518091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0362" y="1655251"/>
            <a:ext cx="150876" cy="1920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3806" y="1641535"/>
            <a:ext cx="164592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70966" y="1655251"/>
            <a:ext cx="150876" cy="1920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68730" y="1243771"/>
            <a:ext cx="342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dirty="0">
                <a:solidFill>
                  <a:srgbClr val="1C7DA0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>
              <a:latin typeface="Tenorite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45920" y="1284919"/>
            <a:ext cx="6960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11418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Stakeholder Sign-Off</a:t>
            </a:r>
            <a:endParaRPr lang="en-US" sz="1163" dirty="0">
              <a:latin typeface="Tenorite" panose="000005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45920" y="1559239"/>
            <a:ext cx="696087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050" dirty="0">
                <a:solidFill>
                  <a:srgbClr val="6B7280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Secure executive approval from Finance, Technology &amp; Operations. Agree governance model and data ownership.</a:t>
            </a:r>
            <a:endParaRPr lang="en-US" sz="1050" dirty="0">
              <a:latin typeface="Tenorite" panose="00000500000000000000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2128704"/>
            <a:ext cx="8606790" cy="75334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2128704"/>
            <a:ext cx="68580" cy="753347"/>
          </a:xfrm>
          <a:prstGeom prst="rect">
            <a:avLst/>
          </a:prstGeom>
          <a:solidFill>
            <a:srgbClr val="D9622A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50" y="2230979"/>
            <a:ext cx="582930" cy="582930"/>
          </a:xfrm>
          <a:prstGeom prst="roundRect">
            <a:avLst>
              <a:gd name="adj" fmla="val 9412"/>
            </a:avLst>
          </a:prstGeom>
          <a:solidFill>
            <a:srgbClr val="D9622A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7794" y="2354423"/>
            <a:ext cx="342900" cy="342900"/>
          </a:xfrm>
          <a:prstGeom prst="donu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90981" y="2488154"/>
            <a:ext cx="68580" cy="68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6704" y="2643333"/>
            <a:ext cx="68580" cy="68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1525" y="2707610"/>
            <a:ext cx="68580" cy="68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6346" y="2643333"/>
            <a:ext cx="68580" cy="68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52069" y="2488154"/>
            <a:ext cx="68580" cy="68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6346" y="2332975"/>
            <a:ext cx="68580" cy="68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71525" y="2268698"/>
            <a:ext cx="68580" cy="68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26704" y="2332975"/>
            <a:ext cx="68580" cy="68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68730" y="2107535"/>
            <a:ext cx="342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dirty="0">
                <a:solidFill>
                  <a:srgbClr val="D9622A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>
              <a:latin typeface="Tenorite" panose="000005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45920" y="2148683"/>
            <a:ext cx="6960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11418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1163" dirty="0">
              <a:latin typeface="Tenorite" panose="00000500000000000000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645920" y="2423003"/>
            <a:ext cx="696087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050" dirty="0">
                <a:solidFill>
                  <a:srgbClr val="6B7280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Confirm AEP already holds the same MIS data, plus additional datasets, and validate reconciliation accuracy against existing reports.</a:t>
            </a:r>
            <a:endParaRPr lang="en-US" sz="1050" dirty="0">
              <a:latin typeface="Tenorite" panose="00000500000000000000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2992468"/>
            <a:ext cx="8606790" cy="75334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2992468"/>
            <a:ext cx="68580" cy="753347"/>
          </a:xfrm>
          <a:prstGeom prst="rect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14350" y="3094743"/>
            <a:ext cx="582930" cy="582930"/>
          </a:xfrm>
          <a:prstGeom prst="roundRect">
            <a:avLst>
              <a:gd name="adj" fmla="val 9412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4078" y="3218187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92658" y="3286767"/>
            <a:ext cx="82296" cy="82296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2386" y="3300483"/>
            <a:ext cx="219456" cy="68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25830" y="3369063"/>
            <a:ext cx="54864" cy="822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94410" y="3369063"/>
            <a:ext cx="54864" cy="1097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68730" y="2971299"/>
            <a:ext cx="342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dirty="0">
                <a:solidFill>
                  <a:srgbClr val="10243E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>
              <a:latin typeface="Tenorite" panose="00000500000000000000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645920" y="3012447"/>
            <a:ext cx="6960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11418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Procurement &amp; Licensing</a:t>
            </a:r>
            <a:endParaRPr lang="en-US" sz="1163" dirty="0">
              <a:latin typeface="Tenorite" panose="00000500000000000000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645920" y="3293030"/>
            <a:ext cx="696087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050" dirty="0">
                <a:solidFill>
                  <a:srgbClr val="6B7280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Provision incremental AEP/Dorado storage for migrated workloads if required. Initiate licence exit and termination of Oracle 11g, Golden-Gate</a:t>
            </a:r>
            <a:endParaRPr lang="en-US" sz="1050" dirty="0">
              <a:latin typeface="Tenorite" panose="00000500000000000000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74320" y="3868758"/>
            <a:ext cx="8606790" cy="75334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74320" y="3868758"/>
            <a:ext cx="68580" cy="753347"/>
          </a:xfrm>
          <a:prstGeom prst="rect">
            <a:avLst/>
          </a:prstGeom>
          <a:solidFill>
            <a:srgbClr val="3CAA53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14350" y="3971033"/>
            <a:ext cx="582930" cy="582930"/>
          </a:xfrm>
          <a:prstGeom prst="roundRect">
            <a:avLst>
              <a:gd name="adj" fmla="val 9412"/>
            </a:avLst>
          </a:prstGeom>
          <a:solidFill>
            <a:srgbClr val="3CAA53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3806" y="4067045"/>
            <a:ext cx="150876" cy="2880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45" name="Shape 43"/>
          <p:cNvSpPr/>
          <p:nvPr/>
        </p:nvSpPr>
        <p:spPr>
          <a:xfrm rot="16200000">
            <a:off x="637794" y="4259069"/>
            <a:ext cx="123444" cy="192024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46" name="Shape 44"/>
          <p:cNvSpPr/>
          <p:nvPr/>
        </p:nvSpPr>
        <p:spPr>
          <a:xfrm rot="5400000">
            <a:off x="857250" y="4259069"/>
            <a:ext cx="123444" cy="192024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>
              <a:latin typeface="Tenorite" panose="00000500000000000000" pitchFamily="2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68730" y="3847589"/>
            <a:ext cx="342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dirty="0">
                <a:solidFill>
                  <a:srgbClr val="3CAA53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>
              <a:latin typeface="Tenorite" panose="00000500000000000000" pitchFamily="2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645920" y="3888737"/>
            <a:ext cx="6960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11418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Delivery Team</a:t>
            </a:r>
            <a:endParaRPr lang="en-US" sz="1163" dirty="0">
              <a:latin typeface="Tenorite" panose="00000500000000000000" pitchFamily="2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645920" y="4163057"/>
            <a:ext cx="696087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050" dirty="0">
                <a:solidFill>
                  <a:srgbClr val="6B7280"/>
                </a:solidFill>
                <a:latin typeface="Tenorite" panose="00000500000000000000" pitchFamily="2" charset="0"/>
                <a:ea typeface="Arial" pitchFamily="34" charset="-122"/>
                <a:cs typeface="Arial" pitchFamily="34" charset="-120"/>
              </a:rPr>
              <a:t>Assemble cross-functional delivery team , Data Engineer, Architect. Arrange travel &amp; onsite presence for 2 developers during the build phase.</a:t>
            </a:r>
            <a:endParaRPr lang="en-US" sz="1050" dirty="0">
              <a:latin typeface="Tenorite" panose="00000500000000000000" pitchFamily="2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4D5F6F4-4B4E-948B-688F-8430C0608AEC}"/>
              </a:ext>
            </a:extLst>
          </p:cNvPr>
          <p:cNvCxnSpPr/>
          <p:nvPr/>
        </p:nvCxnSpPr>
        <p:spPr>
          <a:xfrm>
            <a:off x="0" y="4813240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0575E5"/>
                </a:gs>
                <a:gs pos="100000">
                  <a:srgbClr val="00F26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Subtitle 2">
            <a:extLst>
              <a:ext uri="{FF2B5EF4-FFF2-40B4-BE49-F238E27FC236}">
                <a16:creationId xmlns:a16="http://schemas.microsoft.com/office/drawing/2014/main" id="{0B7AAAC7-DC87-8D2E-2E5A-EC46909D7BD8}"/>
              </a:ext>
            </a:extLst>
          </p:cNvPr>
          <p:cNvSpPr txBox="1">
            <a:spLocks/>
          </p:cNvSpPr>
          <p:nvPr/>
        </p:nvSpPr>
        <p:spPr>
          <a:xfrm>
            <a:off x="4627143" y="4839800"/>
            <a:ext cx="3154766" cy="2631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MY" sz="800">
                <a:solidFill>
                  <a:srgbClr val="222222"/>
                </a:solidFill>
                <a:latin typeface="Tenorite" panose="00000500000000000000" pitchFamily="2" charset="0"/>
              </a:rPr>
              <a:t>Driving </a:t>
            </a:r>
            <a:r>
              <a:rPr lang="en-MY" sz="800" b="1">
                <a:solidFill>
                  <a:srgbClr val="222222"/>
                </a:solidFill>
                <a:latin typeface="Tenorite" panose="00000500000000000000" pitchFamily="2" charset="0"/>
              </a:rPr>
              <a:t>Success </a:t>
            </a:r>
            <a:r>
              <a:rPr lang="en-MY" sz="800">
                <a:solidFill>
                  <a:srgbClr val="222222"/>
                </a:solidFill>
                <a:latin typeface="Tenorite" panose="00000500000000000000" pitchFamily="2" charset="0"/>
              </a:rPr>
              <a:t>through </a:t>
            </a:r>
            <a:r>
              <a:rPr lang="en-MY" sz="800" b="1">
                <a:solidFill>
                  <a:srgbClr val="222222"/>
                </a:solidFill>
                <a:latin typeface="Tenorite" panose="00000500000000000000" pitchFamily="2" charset="0"/>
              </a:rPr>
              <a:t>TEAMs</a:t>
            </a:r>
            <a:br>
              <a:rPr lang="en-US" sz="80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</a:br>
            <a:r>
              <a:rPr lang="en-US" sz="600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(Transformation, Engagement &amp; Efficiency, Agility, Modernization)</a:t>
            </a:r>
            <a:endParaRPr lang="en-US" sz="600">
              <a:solidFill>
                <a:srgbClr val="070952"/>
              </a:solidFill>
              <a:latin typeface="Tenorite" panose="00000500000000000000" pitchFamily="2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4D702BC-79D9-D0BB-E83D-541B16226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170" y="4817069"/>
            <a:ext cx="988246" cy="308610"/>
          </a:xfrm>
          <a:prstGeom prst="rect">
            <a:avLst/>
          </a:prstGeom>
        </p:spPr>
      </p:pic>
      <p:sp>
        <p:nvSpPr>
          <p:cNvPr id="53" name="Subtitle 2">
            <a:extLst>
              <a:ext uri="{FF2B5EF4-FFF2-40B4-BE49-F238E27FC236}">
                <a16:creationId xmlns:a16="http://schemas.microsoft.com/office/drawing/2014/main" id="{088651C6-5F05-44B4-FFCC-D3B6DB113C41}"/>
              </a:ext>
            </a:extLst>
          </p:cNvPr>
          <p:cNvSpPr txBox="1">
            <a:spLocks/>
          </p:cNvSpPr>
          <p:nvPr/>
        </p:nvSpPr>
        <p:spPr>
          <a:xfrm>
            <a:off x="2185838" y="4825950"/>
            <a:ext cx="2286000" cy="2908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Deliver Trusted </a:t>
            </a:r>
            <a:r>
              <a:rPr lang="en-US" sz="800">
                <a:solidFill>
                  <a:srgbClr val="222222"/>
                </a:solidFill>
                <a:latin typeface="Tenorite" panose="00000500000000000000" pitchFamily="2" charset="0"/>
              </a:rPr>
              <a:t>&amp; </a:t>
            </a: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Innovative</a:t>
            </a:r>
            <a:b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</a:br>
            <a:r>
              <a:rPr lang="en-US" sz="800" b="1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Digital Services</a:t>
            </a:r>
            <a:r>
              <a:rPr lang="en-US" sz="800">
                <a:solidFill>
                  <a:srgbClr val="222222"/>
                </a:solidFill>
                <a:latin typeface="Tenorite" panose="00000500000000000000" pitchFamily="2" charset="0"/>
              </a:rPr>
              <a:t> for </a:t>
            </a:r>
            <a:r>
              <a:rPr lang="en-US" sz="800" b="1">
                <a:gradFill flip="none" rotWithShape="1">
                  <a:gsLst>
                    <a:gs pos="0">
                      <a:srgbClr val="0575E5"/>
                    </a:gs>
                    <a:gs pos="100000">
                      <a:srgbClr val="00F260"/>
                    </a:gs>
                  </a:gsLst>
                  <a:lin ang="0" scaled="1"/>
                  <a:tileRect/>
                </a:gradFill>
                <a:latin typeface="Tenorite" panose="00000500000000000000" pitchFamily="2" charset="0"/>
              </a:rPr>
              <a:t>Everyone.</a:t>
            </a:r>
            <a:endParaRPr lang="en-US" sz="800"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latin typeface="Tenorite" panose="00000500000000000000" pitchFamily="2" charset="0"/>
            </a:endParaRPr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8E565FCB-10CA-478C-073B-DF25E5B96155}"/>
              </a:ext>
            </a:extLst>
          </p:cNvPr>
          <p:cNvSpPr txBox="1">
            <a:spLocks/>
          </p:cNvSpPr>
          <p:nvPr/>
        </p:nvSpPr>
        <p:spPr>
          <a:xfrm>
            <a:off x="8293" y="4881349"/>
            <a:ext cx="2286000" cy="180049"/>
          </a:xfrm>
          <a:prstGeom prst="rect">
            <a:avLst/>
          </a:prstGeom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23">
              <a:spcBef>
                <a:spcPts val="500"/>
              </a:spcBef>
              <a:buNone/>
              <a:defRPr/>
            </a:pPr>
            <a:r>
              <a:rPr lang="en-US" sz="800" b="1">
                <a:solidFill>
                  <a:srgbClr val="222222"/>
                </a:solidFill>
                <a:latin typeface="Tenorite" panose="00000500000000000000" pitchFamily="2" charset="0"/>
              </a:rPr>
              <a:t>Information Technology</a:t>
            </a:r>
            <a:endParaRPr lang="en-US" sz="800">
              <a:gradFill flip="none" rotWithShape="1">
                <a:gsLst>
                  <a:gs pos="0">
                    <a:srgbClr val="0575E5"/>
                  </a:gs>
                  <a:gs pos="100000">
                    <a:srgbClr val="00F260"/>
                  </a:gs>
                </a:gsLst>
                <a:lin ang="0" scaled="1"/>
                <a:tileRect/>
              </a:gradFill>
              <a:latin typeface="Tenorite" panose="00000500000000000000" pitchFamily="2" charset="0"/>
            </a:endParaRP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FF896A55-01F8-35DE-86D7-BFF762A5426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323" t="26205" r="8720" b="26872"/>
          <a:stretch/>
        </p:blipFill>
        <p:spPr>
          <a:xfrm>
            <a:off x="8633689" y="42335"/>
            <a:ext cx="457200" cy="4488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65760" y="6400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The Time to Act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norite" panose="00000500000000000000" pitchFamily="2" charset="0"/>
                <a:ea typeface="Calibri" pitchFamily="34" charset="-122"/>
                <a:cs typeface="Calibri" pitchFamily="34" charset="-120"/>
              </a:rPr>
              <a:t>Is Now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21995</TotalTime>
  <Words>1910</Words>
  <Application>Microsoft Office PowerPoint</Application>
  <PresentationFormat>On-screen Show (16:9)</PresentationFormat>
  <Paragraphs>366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Tenorite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Arvind Kumar Baurai</cp:lastModifiedBy>
  <cp:revision>94</cp:revision>
  <dcterms:created xsi:type="dcterms:W3CDTF">2026-06-17T03:48:57Z</dcterms:created>
  <dcterms:modified xsi:type="dcterms:W3CDTF">2026-09-20T05:31:02Z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2026-06-17T03:52:38Z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af977c67-8abe-4ac3-8d15-35dc53139204</vt:lpwstr>
  </property>
  <property fmtid="{D5CDD505-2E9C-101B-9397-08002B2CF9AE}" pid="7" name="MSIP_Label_defa4170-0d19-0005-0004-bc88714345d2_ActionId">
    <vt:lpwstr>df9587a9-915f-4327-9614-23b069cceabb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